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86" r:id="rId18"/>
    <p:sldId id="279" r:id="rId19"/>
  </p:sldIdLst>
  <p:sldSz cx="18288000" cy="10287000"/>
  <p:notesSz cx="6858000" cy="9144000"/>
  <p:embeddedFontLst>
    <p:embeddedFont>
      <p:font typeface="Arial" panose="020B0604020202020204" pitchFamily="34" charset="0"/>
      <p:regular r:id="rId20"/>
    </p:embeddedFont>
    <p:embeddedFont>
      <p:font typeface="Arial Bold" panose="020B0604020202020204" charset="0"/>
      <p:regular r:id="rId21"/>
    </p:embeddedFont>
    <p:embeddedFont>
      <p:font typeface="Arial Italics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MU Concrete" panose="020B0604020202020204" charset="0"/>
      <p:regular r:id="rId27"/>
    </p:embeddedFont>
    <p:embeddedFont>
      <p:font typeface="Lora" pitchFamily="2" charset="0"/>
      <p:regular r:id="rId28"/>
      <p:bold r:id="rId29"/>
      <p:italic r:id="rId30"/>
      <p:boldItalic r:id="rId31"/>
    </p:embeddedFont>
    <p:embeddedFont>
      <p:font typeface="Open Sans 1" panose="020B0604020202020204" charset="0"/>
      <p:regular r:id="rId32"/>
    </p:embeddedFont>
    <p:embeddedFont>
      <p:font typeface="Open Sans 1 Bold" panose="020B0604020202020204" charset="0"/>
      <p:regular r:id="rId33"/>
    </p:embeddedFont>
    <p:embeddedFont>
      <p:font typeface="Open Sans 2 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95656"/>
            <a:ext cx="8545119" cy="1728471"/>
            <a:chOff x="0" y="0"/>
            <a:chExt cx="11393492" cy="2304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75856" cy="2208035"/>
            </a:xfrm>
            <a:custGeom>
              <a:avLst/>
              <a:gdLst/>
              <a:ahLst/>
              <a:cxnLst/>
              <a:rect l="l" t="t" r="r" b="b"/>
              <a:pathLst>
                <a:path w="6275856" h="2208035">
                  <a:moveTo>
                    <a:pt x="0" y="0"/>
                  </a:moveTo>
                  <a:lnTo>
                    <a:pt x="6275856" y="0"/>
                  </a:lnTo>
                  <a:lnTo>
                    <a:pt x="6275856" y="2208035"/>
                  </a:lnTo>
                  <a:lnTo>
                    <a:pt x="0" y="220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3706" b="-14371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275856" y="0"/>
              <a:ext cx="5117637" cy="2304627"/>
            </a:xfrm>
            <a:custGeom>
              <a:avLst/>
              <a:gdLst/>
              <a:ahLst/>
              <a:cxnLst/>
              <a:rect l="l" t="t" r="r" b="b"/>
              <a:pathLst>
                <a:path w="5117637" h="2304627">
                  <a:moveTo>
                    <a:pt x="0" y="0"/>
                  </a:moveTo>
                  <a:lnTo>
                    <a:pt x="5117636" y="0"/>
                  </a:lnTo>
                  <a:lnTo>
                    <a:pt x="5117636" y="2304627"/>
                  </a:lnTo>
                  <a:lnTo>
                    <a:pt x="0" y="2304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1" t="-132598" r="-179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722901" y="2038080"/>
            <a:ext cx="12818407" cy="2037004"/>
            <a:chOff x="0" y="0"/>
            <a:chExt cx="17091209" cy="271600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7091209" cy="2716005"/>
              <a:chOff x="0" y="0"/>
              <a:chExt cx="2464159" cy="39158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64159" cy="391585"/>
              </a:xfrm>
              <a:custGeom>
                <a:avLst/>
                <a:gdLst/>
                <a:ahLst/>
                <a:cxnLst/>
                <a:rect l="l" t="t" r="r" b="b"/>
                <a:pathLst>
                  <a:path w="2464159" h="391585">
                    <a:moveTo>
                      <a:pt x="26230" y="0"/>
                    </a:moveTo>
                    <a:lnTo>
                      <a:pt x="2437929" y="0"/>
                    </a:lnTo>
                    <a:cubicBezTo>
                      <a:pt x="2444885" y="0"/>
                      <a:pt x="2451557" y="2764"/>
                      <a:pt x="2456476" y="7683"/>
                    </a:cubicBezTo>
                    <a:cubicBezTo>
                      <a:pt x="2461395" y="12602"/>
                      <a:pt x="2464159" y="19274"/>
                      <a:pt x="2464159" y="26230"/>
                    </a:cubicBezTo>
                    <a:lnTo>
                      <a:pt x="2464159" y="365355"/>
                    </a:lnTo>
                    <a:cubicBezTo>
                      <a:pt x="2464159" y="372312"/>
                      <a:pt x="2461395" y="378984"/>
                      <a:pt x="2456476" y="383903"/>
                    </a:cubicBezTo>
                    <a:cubicBezTo>
                      <a:pt x="2451557" y="388822"/>
                      <a:pt x="2444885" y="391585"/>
                      <a:pt x="2437929" y="391585"/>
                    </a:cubicBezTo>
                    <a:lnTo>
                      <a:pt x="26230" y="391585"/>
                    </a:lnTo>
                    <a:cubicBezTo>
                      <a:pt x="11744" y="391585"/>
                      <a:pt x="0" y="379842"/>
                      <a:pt x="0" y="365355"/>
                    </a:cubicBezTo>
                    <a:lnTo>
                      <a:pt x="0" y="26230"/>
                    </a:lnTo>
                    <a:cubicBezTo>
                      <a:pt x="0" y="19274"/>
                      <a:pt x="2764" y="12602"/>
                      <a:pt x="7683" y="7683"/>
                    </a:cubicBezTo>
                    <a:cubicBezTo>
                      <a:pt x="12602" y="2764"/>
                      <a:pt x="19274" y="0"/>
                      <a:pt x="2623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464159" cy="429685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289498" y="333536"/>
              <a:ext cx="14512214" cy="1896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Can AI accurately predict forage energy and protein values using chemical and textual data ?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89991" y="6340698"/>
            <a:ext cx="6216385" cy="1283429"/>
            <a:chOff x="0" y="0"/>
            <a:chExt cx="8288513" cy="1711239"/>
          </a:xfrm>
        </p:grpSpPr>
        <p:sp>
          <p:nvSpPr>
            <p:cNvPr id="12" name="Freeform 12"/>
            <p:cNvSpPr/>
            <p:nvPr/>
          </p:nvSpPr>
          <p:spPr>
            <a:xfrm>
              <a:off x="2179601" y="0"/>
              <a:ext cx="1721235" cy="1711239"/>
            </a:xfrm>
            <a:custGeom>
              <a:avLst/>
              <a:gdLst/>
              <a:ahLst/>
              <a:cxnLst/>
              <a:rect l="l" t="t" r="r" b="b"/>
              <a:pathLst>
                <a:path w="1721235" h="1711239">
                  <a:moveTo>
                    <a:pt x="0" y="0"/>
                  </a:moveTo>
                  <a:lnTo>
                    <a:pt x="1721235" y="0"/>
                  </a:lnTo>
                  <a:lnTo>
                    <a:pt x="1721235" y="1711239"/>
                  </a:lnTo>
                  <a:lnTo>
                    <a:pt x="0" y="171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900" r="-14369" b="-3606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383436" y="0"/>
              <a:ext cx="1711239" cy="1711239"/>
            </a:xfrm>
            <a:custGeom>
              <a:avLst/>
              <a:gdLst/>
              <a:ahLst/>
              <a:cxnLst/>
              <a:rect l="l" t="t" r="r" b="b"/>
              <a:pathLst>
                <a:path w="1711239" h="1711239">
                  <a:moveTo>
                    <a:pt x="0" y="0"/>
                  </a:moveTo>
                  <a:lnTo>
                    <a:pt x="1711239" y="0"/>
                  </a:lnTo>
                  <a:lnTo>
                    <a:pt x="1711239" y="1711239"/>
                  </a:lnTo>
                  <a:lnTo>
                    <a:pt x="0" y="171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711239" cy="1711239"/>
            </a:xfrm>
            <a:custGeom>
              <a:avLst/>
              <a:gdLst/>
              <a:ahLst/>
              <a:cxnLst/>
              <a:rect l="l" t="t" r="r" b="b"/>
              <a:pathLst>
                <a:path w="1711239" h="1711239">
                  <a:moveTo>
                    <a:pt x="0" y="0"/>
                  </a:moveTo>
                  <a:lnTo>
                    <a:pt x="1711239" y="0"/>
                  </a:lnTo>
                  <a:lnTo>
                    <a:pt x="1711239" y="1711239"/>
                  </a:lnTo>
                  <a:lnTo>
                    <a:pt x="0" y="171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6577275" y="0"/>
              <a:ext cx="1711239" cy="1711239"/>
            </a:xfrm>
            <a:custGeom>
              <a:avLst/>
              <a:gdLst/>
              <a:ahLst/>
              <a:cxnLst/>
              <a:rect l="l" t="t" r="r" b="b"/>
              <a:pathLst>
                <a:path w="1711239" h="1711239">
                  <a:moveTo>
                    <a:pt x="0" y="0"/>
                  </a:moveTo>
                  <a:lnTo>
                    <a:pt x="1711238" y="0"/>
                  </a:lnTo>
                  <a:lnTo>
                    <a:pt x="1711238" y="1711239"/>
                  </a:lnTo>
                  <a:lnTo>
                    <a:pt x="0" y="171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784157" y="4391004"/>
            <a:ext cx="12719685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Aristide Lauront, Matéo Petitet, Raphaël Genin et Raphaël Rubrice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64201" y="7675093"/>
            <a:ext cx="1262635" cy="1734019"/>
          </a:xfrm>
          <a:custGeom>
            <a:avLst/>
            <a:gdLst/>
            <a:ahLst/>
            <a:cxnLst/>
            <a:rect l="l" t="t" r="r" b="b"/>
            <a:pathLst>
              <a:path w="1262635" h="1734019">
                <a:moveTo>
                  <a:pt x="0" y="0"/>
                </a:moveTo>
                <a:lnTo>
                  <a:pt x="1262635" y="0"/>
                </a:lnTo>
                <a:lnTo>
                  <a:pt x="1262635" y="1734019"/>
                </a:lnTo>
                <a:lnTo>
                  <a:pt x="0" y="1734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39954" y="7589368"/>
            <a:ext cx="5596270" cy="109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project of the Association Française de Zootechnie (AFZ)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by Valérie Heuzé and Gilles Tran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9330" y="647481"/>
            <a:ext cx="12429339" cy="1332154"/>
            <a:chOff x="0" y="0"/>
            <a:chExt cx="16572452" cy="177620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572452" cy="1776205"/>
              <a:chOff x="0" y="0"/>
              <a:chExt cx="2389366" cy="25608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6088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6088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29036"/>
                    </a:lnTo>
                    <a:cubicBezTo>
                      <a:pt x="2389366" y="243977"/>
                      <a:pt x="2377255" y="256088"/>
                      <a:pt x="2362315" y="256088"/>
                    </a:cubicBezTo>
                    <a:lnTo>
                      <a:pt x="27051" y="256088"/>
                    </a:lnTo>
                    <a:cubicBezTo>
                      <a:pt x="12111" y="256088"/>
                      <a:pt x="0" y="243977"/>
                      <a:pt x="0" y="229036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4188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50358" y="333536"/>
              <a:ext cx="14071736" cy="956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Challenge : predicting forage value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5492472" y="6343549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303488" y="7301339"/>
            <a:ext cx="7840512" cy="1847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variability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calculation is convoluted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forage description might be complex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06347" y="6648248"/>
            <a:ext cx="4037658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 what purpose 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97807" y="7322770"/>
            <a:ext cx="7013893" cy="1847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creation of ration on the fly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precise monitoring of nutrient and energy supply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57400"/>
            <a:ext cx="16538876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Ration composition 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yield &amp; economic revenue 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animal health and welfare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shall maximize quality/price ratio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0210" y="4524375"/>
            <a:ext cx="1637585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French National Institute of Agricultural and Environmental Research (INRAE) helped develop nutrition system based on energy and protein intakes.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5706" y="6648248"/>
            <a:ext cx="1391094" cy="581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37818" y="354210"/>
            <a:ext cx="13212365" cy="1348980"/>
            <a:chOff x="0" y="0"/>
            <a:chExt cx="17616487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7616487" cy="1798641"/>
              <a:chOff x="0" y="0"/>
              <a:chExt cx="2539892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39892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539892" h="259323">
                    <a:moveTo>
                      <a:pt x="25448" y="0"/>
                    </a:moveTo>
                    <a:lnTo>
                      <a:pt x="2514444" y="0"/>
                    </a:lnTo>
                    <a:cubicBezTo>
                      <a:pt x="2521193" y="0"/>
                      <a:pt x="2527666" y="2681"/>
                      <a:pt x="2532438" y="7454"/>
                    </a:cubicBezTo>
                    <a:cubicBezTo>
                      <a:pt x="2537211" y="12226"/>
                      <a:pt x="2539892" y="18699"/>
                      <a:pt x="2539892" y="25448"/>
                    </a:cubicBezTo>
                    <a:lnTo>
                      <a:pt x="2539892" y="233874"/>
                    </a:lnTo>
                    <a:cubicBezTo>
                      <a:pt x="2539892" y="240624"/>
                      <a:pt x="2537211" y="247096"/>
                      <a:pt x="2532438" y="251869"/>
                    </a:cubicBezTo>
                    <a:cubicBezTo>
                      <a:pt x="2527666" y="256641"/>
                      <a:pt x="2521193" y="259323"/>
                      <a:pt x="2514444" y="259323"/>
                    </a:cubicBezTo>
                    <a:lnTo>
                      <a:pt x="25448" y="259323"/>
                    </a:lnTo>
                    <a:cubicBezTo>
                      <a:pt x="18699" y="259323"/>
                      <a:pt x="12226" y="256641"/>
                      <a:pt x="7454" y="251869"/>
                    </a:cubicBezTo>
                    <a:cubicBezTo>
                      <a:pt x="2681" y="247096"/>
                      <a:pt x="0" y="240624"/>
                      <a:pt x="0" y="233874"/>
                    </a:cubicBezTo>
                    <a:lnTo>
                      <a:pt x="0" y="25448"/>
                    </a:lnTo>
                    <a:cubicBezTo>
                      <a:pt x="0" y="18699"/>
                      <a:pt x="2681" y="12226"/>
                      <a:pt x="7454" y="7454"/>
                    </a:cubicBezTo>
                    <a:cubicBezTo>
                      <a:pt x="12226" y="2681"/>
                      <a:pt x="18699" y="0"/>
                      <a:pt x="25448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539892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329129" y="324011"/>
              <a:ext cx="14958229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Focus on </a:t>
              </a: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predictors</a:t>
              </a: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- Labels (1)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9540722" y="-2500402"/>
            <a:ext cx="1121564" cy="11716457"/>
            <a:chOff x="0" y="0"/>
            <a:chExt cx="225989" cy="23607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989" cy="2360796"/>
            </a:xfrm>
            <a:custGeom>
              <a:avLst/>
              <a:gdLst/>
              <a:ahLst/>
              <a:cxnLst/>
              <a:rect l="l" t="t" r="r" b="b"/>
              <a:pathLst>
                <a:path w="225989" h="2360796">
                  <a:moveTo>
                    <a:pt x="112994" y="0"/>
                  </a:moveTo>
                  <a:lnTo>
                    <a:pt x="225989" y="2360796"/>
                  </a:lnTo>
                  <a:lnTo>
                    <a:pt x="0" y="2360796"/>
                  </a:lnTo>
                  <a:lnTo>
                    <a:pt x="112994" y="0"/>
                  </a:lnTo>
                  <a:close/>
                </a:path>
              </a:pathLst>
            </a:custGeom>
            <a:gradFill rotWithShape="1">
              <a:gsLst>
                <a:gs pos="0">
                  <a:srgbClr val="DF0C0C">
                    <a:alpha val="100000"/>
                  </a:srgbClr>
                </a:gs>
                <a:gs pos="100000">
                  <a:srgbClr val="7FFF5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35311" y="1010359"/>
              <a:ext cx="155367" cy="1181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322497" y="3989151"/>
          <a:ext cx="16570948" cy="4981574"/>
        </p:xfrm>
        <a:graphic>
          <a:graphicData uri="http://schemas.openxmlformats.org/drawingml/2006/table">
            <a:tbl>
              <a:tblPr/>
              <a:tblGrid>
                <a:gridCol w="1337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5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8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703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Label 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Label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Label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Label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Label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80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FV0230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FOURRAGES VERTS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PRAIRIES PERMANENTES, MONTAGNE (ALPES NORD)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À base de graminées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1er cycle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Épiaison du dactyle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80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FE0490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ENSILAGES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PRAIRIES PERMANENTES, PLAINE (NORMANDIE)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Préfané coupe fine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1er cycle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15-25 mai, début épiaison, ST = 470°C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94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FF0910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FOINS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GRAMINÉES FOURRAGÈRES, RAY-GRASS D'ITALIE, ALTERNATIF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Ventilé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1er cycle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Épi à 10 cm du sol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7259300" y="9172575"/>
            <a:ext cx="152400" cy="2381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4555" y="1781810"/>
            <a:ext cx="8292245" cy="581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 levels of semi-structured textual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05863" y="2970034"/>
            <a:ext cx="1535748" cy="560923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00083" y="3034293"/>
            <a:ext cx="1511617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586" y="9163050"/>
            <a:ext cx="12191414" cy="400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level 0 to level 2 labels are consistent, above level two they are a lot more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9330" y="647481"/>
            <a:ext cx="12429339" cy="1348980"/>
            <a:chOff x="0" y="0"/>
            <a:chExt cx="16572452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572452" cy="1798641"/>
              <a:chOff x="0" y="0"/>
              <a:chExt cx="2389366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50358" y="324011"/>
              <a:ext cx="14071736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 of data available (2)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5173" y="2930208"/>
            <a:ext cx="17897655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from INRAE describing hundreds of </a:t>
            </a: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forages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characteristics. Each row made of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22058" y="8011160"/>
            <a:ext cx="7130415" cy="124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Chemical values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chemical values taken in laboratory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06200" y="8054340"/>
            <a:ext cx="4036074" cy="581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Nutritional values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05055" y="3654266"/>
          <a:ext cx="15334005" cy="4114800"/>
        </p:xfrm>
        <a:graphic>
          <a:graphicData uri="http://schemas.openxmlformats.org/drawingml/2006/table">
            <a:tbl>
              <a:tblPr/>
              <a:tblGrid>
                <a:gridCol w="1382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5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97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97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97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097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097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DM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Ashes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CF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NDF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ADF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EE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UFL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UFV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PDIA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PDI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BPR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FV0230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21,0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581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79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FE0490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19,7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460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58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FF0910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532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271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6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0,93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 1"/>
                          <a:ea typeface="Open Sans 1"/>
                          <a:cs typeface="Open Sans 1"/>
                          <a:sym typeface="Open Sans 1"/>
                        </a:rPr>
                        <a:t>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9330" y="647481"/>
            <a:ext cx="12429339" cy="1348980"/>
            <a:chOff x="0" y="0"/>
            <a:chExt cx="16572452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572452" cy="1798641"/>
              <a:chOff x="0" y="0"/>
              <a:chExt cx="2389366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50358" y="324011"/>
              <a:ext cx="14071736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Focus on predicted values 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864320"/>
              </p:ext>
            </p:extLst>
          </p:nvPr>
        </p:nvGraphicFramePr>
        <p:xfrm>
          <a:off x="1775564" y="3713162"/>
          <a:ext cx="14736872" cy="5281141"/>
        </p:xfrm>
        <a:graphic>
          <a:graphicData uri="http://schemas.openxmlformats.org/drawingml/2006/table">
            <a:tbl>
              <a:tblPr/>
              <a:tblGrid>
                <a:gridCol w="736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58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Energy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Protein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97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UFL :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energy available for milking purpose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(1 UFL = 1700 kcal)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PDI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Digestible proteins in the gut, nitrogen nutrient values (metabolizable proteins) in ruminants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4002">
                <a:tc rowSpan="2"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UFV :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energy available for cattle fattening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 UFL = 1820 kcal)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PDIA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PDI of food origin, not degraded in the rumen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581">
                <a:tc vMerge="1"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UFV :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energy available for cattle fattening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 UFL = 1820 kcal)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BPR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: protein balance of the rumen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3321279" y="3937292"/>
            <a:ext cx="410430" cy="709864"/>
          </a:xfrm>
          <a:custGeom>
            <a:avLst/>
            <a:gdLst/>
            <a:ahLst/>
            <a:cxnLst/>
            <a:rect l="l" t="t" r="r" b="b"/>
            <a:pathLst>
              <a:path w="410430" h="709864">
                <a:moveTo>
                  <a:pt x="0" y="0"/>
                </a:moveTo>
                <a:lnTo>
                  <a:pt x="410431" y="0"/>
                </a:lnTo>
                <a:lnTo>
                  <a:pt x="410431" y="709864"/>
                </a:lnTo>
                <a:lnTo>
                  <a:pt x="0" y="70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775564" y="2575852"/>
            <a:ext cx="9654436" cy="581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Calculated/defined by INRAE nutrition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9330" y="647481"/>
            <a:ext cx="12429339" cy="1348980"/>
            <a:chOff x="0" y="0"/>
            <a:chExt cx="16572452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572452" cy="1798641"/>
              <a:chOff x="0" y="0"/>
              <a:chExt cx="2389366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50359" y="324011"/>
              <a:ext cx="14071736" cy="889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Forage types 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28024" y="2536631"/>
            <a:ext cx="8758466" cy="6568850"/>
          </a:xfrm>
          <a:custGeom>
            <a:avLst/>
            <a:gdLst/>
            <a:ahLst/>
            <a:cxnLst/>
            <a:rect l="l" t="t" r="r" b="b"/>
            <a:pathLst>
              <a:path w="8758466" h="6568850">
                <a:moveTo>
                  <a:pt x="0" y="0"/>
                </a:moveTo>
                <a:lnTo>
                  <a:pt x="8758466" y="0"/>
                </a:lnTo>
                <a:lnTo>
                  <a:pt x="8758466" y="6568849"/>
                </a:lnTo>
                <a:lnTo>
                  <a:pt x="0" y="6568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67099" y="9017000"/>
            <a:ext cx="6389612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90704" y="647481"/>
            <a:ext cx="15541103" cy="1348980"/>
            <a:chOff x="0" y="0"/>
            <a:chExt cx="20721470" cy="179864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0721470" cy="1798641"/>
              <a:chOff x="0" y="0"/>
              <a:chExt cx="2987559" cy="25932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987559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987559" h="259323">
                    <a:moveTo>
                      <a:pt x="21635" y="0"/>
                    </a:moveTo>
                    <a:lnTo>
                      <a:pt x="2965924" y="0"/>
                    </a:lnTo>
                    <a:cubicBezTo>
                      <a:pt x="2971662" y="0"/>
                      <a:pt x="2977165" y="2279"/>
                      <a:pt x="2981222" y="6337"/>
                    </a:cubicBezTo>
                    <a:cubicBezTo>
                      <a:pt x="2985280" y="10394"/>
                      <a:pt x="2987559" y="15897"/>
                      <a:pt x="2987559" y="21635"/>
                    </a:cubicBezTo>
                    <a:lnTo>
                      <a:pt x="2987559" y="237688"/>
                    </a:lnTo>
                    <a:cubicBezTo>
                      <a:pt x="2987559" y="249636"/>
                      <a:pt x="2977873" y="259323"/>
                      <a:pt x="2965924" y="259323"/>
                    </a:cubicBezTo>
                    <a:lnTo>
                      <a:pt x="21635" y="259323"/>
                    </a:lnTo>
                    <a:cubicBezTo>
                      <a:pt x="9686" y="259323"/>
                      <a:pt x="0" y="249636"/>
                      <a:pt x="0" y="237688"/>
                    </a:cubicBezTo>
                    <a:lnTo>
                      <a:pt x="0" y="21635"/>
                    </a:lnTo>
                    <a:cubicBezTo>
                      <a:pt x="0" y="9686"/>
                      <a:pt x="9686" y="0"/>
                      <a:pt x="2163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987559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563393" y="324011"/>
              <a:ext cx="17594683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Tested approaches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90704" y="3553142"/>
            <a:ext cx="13807518" cy="304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approach - Machine learning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approach - LLM based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704" y="647481"/>
            <a:ext cx="15541103" cy="1348980"/>
            <a:chOff x="0" y="0"/>
            <a:chExt cx="20721470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721470" cy="1798641"/>
              <a:chOff x="0" y="0"/>
              <a:chExt cx="2987559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987559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987559" h="259323">
                    <a:moveTo>
                      <a:pt x="21635" y="0"/>
                    </a:moveTo>
                    <a:lnTo>
                      <a:pt x="2965924" y="0"/>
                    </a:lnTo>
                    <a:cubicBezTo>
                      <a:pt x="2971662" y="0"/>
                      <a:pt x="2977165" y="2279"/>
                      <a:pt x="2981222" y="6337"/>
                    </a:cubicBezTo>
                    <a:cubicBezTo>
                      <a:pt x="2985280" y="10394"/>
                      <a:pt x="2987559" y="15897"/>
                      <a:pt x="2987559" y="21635"/>
                    </a:cubicBezTo>
                    <a:lnTo>
                      <a:pt x="2987559" y="237688"/>
                    </a:lnTo>
                    <a:cubicBezTo>
                      <a:pt x="2987559" y="249636"/>
                      <a:pt x="2977873" y="259323"/>
                      <a:pt x="2965924" y="259323"/>
                    </a:cubicBezTo>
                    <a:lnTo>
                      <a:pt x="21635" y="259323"/>
                    </a:lnTo>
                    <a:cubicBezTo>
                      <a:pt x="9686" y="259323"/>
                      <a:pt x="0" y="249636"/>
                      <a:pt x="0" y="237688"/>
                    </a:cubicBezTo>
                    <a:lnTo>
                      <a:pt x="0" y="21635"/>
                    </a:lnTo>
                    <a:cubicBezTo>
                      <a:pt x="0" y="9686"/>
                      <a:pt x="9686" y="0"/>
                      <a:pt x="2163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987559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563393" y="324011"/>
              <a:ext cx="17594683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approach - Machine learning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48690" y="4906048"/>
            <a:ext cx="3259616" cy="1749974"/>
            <a:chOff x="0" y="0"/>
            <a:chExt cx="858500" cy="4608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8500" cy="460898"/>
            </a:xfrm>
            <a:custGeom>
              <a:avLst/>
              <a:gdLst/>
              <a:ahLst/>
              <a:cxnLst/>
              <a:rect l="l" t="t" r="r" b="b"/>
              <a:pathLst>
                <a:path w="858500" h="460898">
                  <a:moveTo>
                    <a:pt x="52252" y="0"/>
                  </a:moveTo>
                  <a:lnTo>
                    <a:pt x="806247" y="0"/>
                  </a:lnTo>
                  <a:cubicBezTo>
                    <a:pt x="820106" y="0"/>
                    <a:pt x="833396" y="5505"/>
                    <a:pt x="843195" y="15304"/>
                  </a:cubicBezTo>
                  <a:cubicBezTo>
                    <a:pt x="852995" y="25104"/>
                    <a:pt x="858500" y="38394"/>
                    <a:pt x="858500" y="52252"/>
                  </a:cubicBezTo>
                  <a:lnTo>
                    <a:pt x="858500" y="408646"/>
                  </a:lnTo>
                  <a:cubicBezTo>
                    <a:pt x="858500" y="422504"/>
                    <a:pt x="852995" y="435795"/>
                    <a:pt x="843195" y="445594"/>
                  </a:cubicBezTo>
                  <a:cubicBezTo>
                    <a:pt x="833396" y="455393"/>
                    <a:pt x="820106" y="460898"/>
                    <a:pt x="806247" y="460898"/>
                  </a:cubicBezTo>
                  <a:lnTo>
                    <a:pt x="52252" y="460898"/>
                  </a:lnTo>
                  <a:cubicBezTo>
                    <a:pt x="38394" y="460898"/>
                    <a:pt x="25104" y="455393"/>
                    <a:pt x="15304" y="445594"/>
                  </a:cubicBezTo>
                  <a:cubicBezTo>
                    <a:pt x="5505" y="435795"/>
                    <a:pt x="0" y="422504"/>
                    <a:pt x="0" y="408646"/>
                  </a:cubicBezTo>
                  <a:lnTo>
                    <a:pt x="0" y="52252"/>
                  </a:lnTo>
                  <a:cubicBezTo>
                    <a:pt x="0" y="38394"/>
                    <a:pt x="5505" y="25104"/>
                    <a:pt x="15304" y="15304"/>
                  </a:cubicBezTo>
                  <a:cubicBezTo>
                    <a:pt x="25104" y="5505"/>
                    <a:pt x="38394" y="0"/>
                    <a:pt x="522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58500" cy="518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ML Model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21586" y="6323017"/>
            <a:ext cx="2957723" cy="1749974"/>
            <a:chOff x="0" y="0"/>
            <a:chExt cx="3943631" cy="233329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46374" cy="2333299"/>
              <a:chOff x="0" y="0"/>
              <a:chExt cx="483234" cy="46089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3234" cy="460898"/>
              </a:xfrm>
              <a:custGeom>
                <a:avLst/>
                <a:gdLst/>
                <a:ahLst/>
                <a:cxnLst/>
                <a:rect l="l" t="t" r="r" b="b"/>
                <a:pathLst>
                  <a:path w="483234" h="460898">
                    <a:moveTo>
                      <a:pt x="92830" y="0"/>
                    </a:moveTo>
                    <a:lnTo>
                      <a:pt x="390405" y="0"/>
                    </a:lnTo>
                    <a:cubicBezTo>
                      <a:pt x="441673" y="0"/>
                      <a:pt x="483234" y="41561"/>
                      <a:pt x="483234" y="92830"/>
                    </a:cubicBezTo>
                    <a:lnTo>
                      <a:pt x="483234" y="368069"/>
                    </a:lnTo>
                    <a:cubicBezTo>
                      <a:pt x="483234" y="419337"/>
                      <a:pt x="441673" y="460898"/>
                      <a:pt x="390405" y="460898"/>
                    </a:cubicBezTo>
                    <a:lnTo>
                      <a:pt x="92830" y="460898"/>
                    </a:lnTo>
                    <a:cubicBezTo>
                      <a:pt x="68210" y="460898"/>
                      <a:pt x="44598" y="451118"/>
                      <a:pt x="27189" y="433709"/>
                    </a:cubicBezTo>
                    <a:cubicBezTo>
                      <a:pt x="9780" y="416300"/>
                      <a:pt x="0" y="392689"/>
                      <a:pt x="0" y="368069"/>
                    </a:cubicBezTo>
                    <a:lnTo>
                      <a:pt x="0" y="92830"/>
                    </a:lnTo>
                    <a:cubicBezTo>
                      <a:pt x="0" y="41561"/>
                      <a:pt x="41561" y="0"/>
                      <a:pt x="9283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FD69C">
                      <a:alpha val="100000"/>
                    </a:srgbClr>
                  </a:gs>
                  <a:gs pos="100000">
                    <a:srgbClr val="41D139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483234" cy="518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Standard Scaler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2692417" y="1156100"/>
              <a:ext cx="125121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65059" y="6323017"/>
            <a:ext cx="1834781" cy="1749974"/>
            <a:chOff x="0" y="0"/>
            <a:chExt cx="483234" cy="4608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3234" cy="460898"/>
            </a:xfrm>
            <a:custGeom>
              <a:avLst/>
              <a:gdLst/>
              <a:ahLst/>
              <a:cxnLst/>
              <a:rect l="l" t="t" r="r" b="b"/>
              <a:pathLst>
                <a:path w="483234" h="460898">
                  <a:moveTo>
                    <a:pt x="92830" y="0"/>
                  </a:moveTo>
                  <a:lnTo>
                    <a:pt x="390405" y="0"/>
                  </a:lnTo>
                  <a:cubicBezTo>
                    <a:pt x="441673" y="0"/>
                    <a:pt x="483234" y="41561"/>
                    <a:pt x="483234" y="92830"/>
                  </a:cubicBezTo>
                  <a:lnTo>
                    <a:pt x="483234" y="368069"/>
                  </a:lnTo>
                  <a:cubicBezTo>
                    <a:pt x="483234" y="419337"/>
                    <a:pt x="441673" y="460898"/>
                    <a:pt x="390405" y="460898"/>
                  </a:cubicBezTo>
                  <a:lnTo>
                    <a:pt x="92830" y="460898"/>
                  </a:lnTo>
                  <a:cubicBezTo>
                    <a:pt x="68210" y="460898"/>
                    <a:pt x="44598" y="451118"/>
                    <a:pt x="27189" y="433709"/>
                  </a:cubicBezTo>
                  <a:cubicBezTo>
                    <a:pt x="9780" y="416300"/>
                    <a:pt x="0" y="392689"/>
                    <a:pt x="0" y="368069"/>
                  </a:cubicBezTo>
                  <a:lnTo>
                    <a:pt x="0" y="92830"/>
                  </a:lnTo>
                  <a:cubicBezTo>
                    <a:pt x="0" y="41561"/>
                    <a:pt x="41561" y="0"/>
                    <a:pt x="928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D69C">
                    <a:alpha val="100000"/>
                  </a:srgbClr>
                </a:gs>
                <a:gs pos="100000">
                  <a:srgbClr val="41D13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83234" cy="518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KNN Imputer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9605217" y="6001999"/>
            <a:ext cx="3186116" cy="11225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7320223" y="2902205"/>
            <a:ext cx="5001595" cy="2055008"/>
            <a:chOff x="0" y="0"/>
            <a:chExt cx="1317292" cy="5412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7292" cy="541237"/>
            </a:xfrm>
            <a:custGeom>
              <a:avLst/>
              <a:gdLst/>
              <a:ahLst/>
              <a:cxnLst/>
              <a:rect l="l" t="t" r="r" b="b"/>
              <a:pathLst>
                <a:path w="1317292" h="541237">
                  <a:moveTo>
                    <a:pt x="78942" y="0"/>
                  </a:moveTo>
                  <a:lnTo>
                    <a:pt x="1238350" y="0"/>
                  </a:lnTo>
                  <a:cubicBezTo>
                    <a:pt x="1281949" y="0"/>
                    <a:pt x="1317292" y="35344"/>
                    <a:pt x="1317292" y="78942"/>
                  </a:cubicBezTo>
                  <a:lnTo>
                    <a:pt x="1317292" y="462294"/>
                  </a:lnTo>
                  <a:cubicBezTo>
                    <a:pt x="1317292" y="505893"/>
                    <a:pt x="1281949" y="541237"/>
                    <a:pt x="1238350" y="541237"/>
                  </a:cubicBezTo>
                  <a:lnTo>
                    <a:pt x="78942" y="541237"/>
                  </a:lnTo>
                  <a:cubicBezTo>
                    <a:pt x="35344" y="541237"/>
                    <a:pt x="0" y="505893"/>
                    <a:pt x="0" y="462294"/>
                  </a:cubicBezTo>
                  <a:lnTo>
                    <a:pt x="0" y="78942"/>
                  </a:lnTo>
                  <a:cubicBezTo>
                    <a:pt x="0" y="35344"/>
                    <a:pt x="35344" y="0"/>
                    <a:pt x="789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4E43D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17292" cy="588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471598" y="3346984"/>
            <a:ext cx="4002380" cy="380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GRASS FORAGE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30795" y="4171018"/>
            <a:ext cx="587216" cy="380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75056" y="3322400"/>
            <a:ext cx="1719870" cy="380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MU Concrete"/>
                <a:ea typeface="CMU Concrete"/>
                <a:cs typeface="CMU Concrete"/>
                <a:sym typeface="CMU Concrete"/>
              </a:rPr>
              <a:t>(0, 1, ..., 0,0)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75056" y="4121932"/>
            <a:ext cx="1719870" cy="380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MU Concrete"/>
                <a:ea typeface="CMU Concrete"/>
                <a:cs typeface="CMU Concrete"/>
                <a:sym typeface="CMU Concrete"/>
              </a:rPr>
              <a:t>(0, 1, ..., 0,0)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654827" y="3557374"/>
            <a:ext cx="72022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7" name="AutoShape 27"/>
          <p:cNvSpPr/>
          <p:nvPr/>
        </p:nvSpPr>
        <p:spPr>
          <a:xfrm>
            <a:off x="8877613" y="4427897"/>
            <a:ext cx="15551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>
            <a:off x="12321818" y="3766165"/>
            <a:ext cx="467271" cy="18713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12472408" y="4558969"/>
            <a:ext cx="237332" cy="260174"/>
            <a:chOff x="0" y="0"/>
            <a:chExt cx="812800" cy="8910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91033"/>
            </a:xfrm>
            <a:custGeom>
              <a:avLst/>
              <a:gdLst/>
              <a:ahLst/>
              <a:cxnLst/>
              <a:rect l="l" t="t" r="r" b="b"/>
              <a:pathLst>
                <a:path w="812800" h="891033">
                  <a:moveTo>
                    <a:pt x="406400" y="0"/>
                  </a:moveTo>
                  <a:cubicBezTo>
                    <a:pt x="181951" y="0"/>
                    <a:pt x="0" y="199464"/>
                    <a:pt x="0" y="445516"/>
                  </a:cubicBezTo>
                  <a:cubicBezTo>
                    <a:pt x="0" y="691568"/>
                    <a:pt x="181951" y="891033"/>
                    <a:pt x="406400" y="891033"/>
                  </a:cubicBezTo>
                  <a:cubicBezTo>
                    <a:pt x="630849" y="891033"/>
                    <a:pt x="812800" y="691568"/>
                    <a:pt x="812800" y="445516"/>
                  </a:cubicBezTo>
                  <a:cubicBezTo>
                    <a:pt x="812800" y="19946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5909"/>
              <a:ext cx="660400" cy="77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996502" y="2194815"/>
            <a:ext cx="2365061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Vectorial representation</a:t>
            </a:r>
          </a:p>
        </p:txBody>
      </p:sp>
      <p:sp>
        <p:nvSpPr>
          <p:cNvPr id="33" name="AutoShape 33"/>
          <p:cNvSpPr/>
          <p:nvPr/>
        </p:nvSpPr>
        <p:spPr>
          <a:xfrm>
            <a:off x="16165664" y="5769897"/>
            <a:ext cx="94928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TextBox 34"/>
          <p:cNvSpPr txBox="1"/>
          <p:nvPr/>
        </p:nvSpPr>
        <p:spPr>
          <a:xfrm>
            <a:off x="17259300" y="5466041"/>
            <a:ext cx="723900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sz="2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UFL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95778" y="4219281"/>
            <a:ext cx="1118806" cy="1373534"/>
          </a:xfrm>
          <a:custGeom>
            <a:avLst/>
            <a:gdLst/>
            <a:ahLst/>
            <a:cxnLst/>
            <a:rect l="l" t="t" r="r" b="b"/>
            <a:pathLst>
              <a:path w="1118806" h="1373534">
                <a:moveTo>
                  <a:pt x="0" y="0"/>
                </a:moveTo>
                <a:lnTo>
                  <a:pt x="1118806" y="0"/>
                </a:lnTo>
                <a:lnTo>
                  <a:pt x="1118806" y="1373534"/>
                </a:lnTo>
                <a:lnTo>
                  <a:pt x="0" y="1373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AutoShape 36"/>
          <p:cNvSpPr/>
          <p:nvPr/>
        </p:nvSpPr>
        <p:spPr>
          <a:xfrm>
            <a:off x="3594797" y="3722028"/>
            <a:ext cx="6145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7" name="TextBox 37"/>
          <p:cNvSpPr txBox="1"/>
          <p:nvPr/>
        </p:nvSpPr>
        <p:spPr>
          <a:xfrm>
            <a:off x="525164" y="2912892"/>
            <a:ext cx="2460033" cy="124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Forage description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0818" y="4591898"/>
            <a:ext cx="2645829" cy="523526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277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78849" y="3420452"/>
            <a:ext cx="152522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Splitting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65059" y="2528825"/>
            <a:ext cx="3049429" cy="37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OneHot Encoding 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4678155" y="3853915"/>
            <a:ext cx="3452144" cy="956791"/>
            <a:chOff x="0" y="0"/>
            <a:chExt cx="909207" cy="25199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09207" cy="251994"/>
            </a:xfrm>
            <a:custGeom>
              <a:avLst/>
              <a:gdLst/>
              <a:ahLst/>
              <a:cxnLst/>
              <a:rect l="l" t="t" r="r" b="b"/>
              <a:pathLst>
                <a:path w="909207" h="251994">
                  <a:moveTo>
                    <a:pt x="49338" y="0"/>
                  </a:moveTo>
                  <a:lnTo>
                    <a:pt x="859869" y="0"/>
                  </a:lnTo>
                  <a:cubicBezTo>
                    <a:pt x="887117" y="0"/>
                    <a:pt x="909207" y="22089"/>
                    <a:pt x="909207" y="49338"/>
                  </a:cubicBezTo>
                  <a:lnTo>
                    <a:pt x="909207" y="202656"/>
                  </a:lnTo>
                  <a:cubicBezTo>
                    <a:pt x="909207" y="215742"/>
                    <a:pt x="904009" y="228291"/>
                    <a:pt x="894756" y="237544"/>
                  </a:cubicBezTo>
                  <a:cubicBezTo>
                    <a:pt x="885503" y="246796"/>
                    <a:pt x="872954" y="251994"/>
                    <a:pt x="859869" y="251994"/>
                  </a:cubicBezTo>
                  <a:lnTo>
                    <a:pt x="49338" y="251994"/>
                  </a:lnTo>
                  <a:cubicBezTo>
                    <a:pt x="36253" y="251994"/>
                    <a:pt x="23703" y="246796"/>
                    <a:pt x="14451" y="237544"/>
                  </a:cubicBezTo>
                  <a:cubicBezTo>
                    <a:pt x="5198" y="228291"/>
                    <a:pt x="0" y="215742"/>
                    <a:pt x="0" y="202656"/>
                  </a:cubicBezTo>
                  <a:lnTo>
                    <a:pt x="0" y="49338"/>
                  </a:lnTo>
                  <a:cubicBezTo>
                    <a:pt x="0" y="36253"/>
                    <a:pt x="5198" y="23703"/>
                    <a:pt x="14451" y="14451"/>
                  </a:cubicBezTo>
                  <a:cubicBezTo>
                    <a:pt x="23703" y="5198"/>
                    <a:pt x="36253" y="0"/>
                    <a:pt x="493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4E43DB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09207" cy="299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Dimension reduction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FAMD/ACM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 flipV="1">
            <a:off x="12709740" y="4332310"/>
            <a:ext cx="1968415" cy="332353"/>
          </a:xfrm>
          <a:prstGeom prst="line">
            <a:avLst/>
          </a:prstGeom>
          <a:ln w="508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>
            <a:off x="3405850" y="7209142"/>
            <a:ext cx="9384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7" name="TextBox 47"/>
          <p:cNvSpPr txBox="1"/>
          <p:nvPr/>
        </p:nvSpPr>
        <p:spPr>
          <a:xfrm>
            <a:off x="847325" y="6846432"/>
            <a:ext cx="2137872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Chemical values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259300" y="9469629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sp>
        <p:nvSpPr>
          <p:cNvPr id="49" name="AutoShape 49"/>
          <p:cNvSpPr/>
          <p:nvPr/>
        </p:nvSpPr>
        <p:spPr>
          <a:xfrm>
            <a:off x="6270774" y="3702978"/>
            <a:ext cx="6145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6961" y="354240"/>
            <a:ext cx="14214078" cy="1348980"/>
            <a:chOff x="0" y="0"/>
            <a:chExt cx="18952105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8952105" cy="1798641"/>
              <a:chOff x="0" y="0"/>
              <a:chExt cx="2732457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32457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732457" h="259323">
                    <a:moveTo>
                      <a:pt x="23655" y="0"/>
                    </a:moveTo>
                    <a:lnTo>
                      <a:pt x="2708802" y="0"/>
                    </a:lnTo>
                    <a:cubicBezTo>
                      <a:pt x="2721867" y="0"/>
                      <a:pt x="2732457" y="10591"/>
                      <a:pt x="2732457" y="23655"/>
                    </a:cubicBezTo>
                    <a:lnTo>
                      <a:pt x="2732457" y="235668"/>
                    </a:lnTo>
                    <a:cubicBezTo>
                      <a:pt x="2732457" y="248732"/>
                      <a:pt x="2721867" y="259323"/>
                      <a:pt x="2708802" y="259323"/>
                    </a:cubicBezTo>
                    <a:lnTo>
                      <a:pt x="23655" y="259323"/>
                    </a:lnTo>
                    <a:cubicBezTo>
                      <a:pt x="10591" y="259323"/>
                      <a:pt x="0" y="248732"/>
                      <a:pt x="0" y="235668"/>
                    </a:cubicBezTo>
                    <a:lnTo>
                      <a:pt x="0" y="23655"/>
                    </a:lnTo>
                    <a:cubicBezTo>
                      <a:pt x="0" y="10591"/>
                      <a:pt x="10591" y="0"/>
                      <a:pt x="2365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32457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429898" y="324011"/>
              <a:ext cx="16092308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Second approach - LLM based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17214" y="3408893"/>
            <a:ext cx="2280584" cy="1394089"/>
            <a:chOff x="0" y="-57150"/>
            <a:chExt cx="511045" cy="3123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1045" cy="255245"/>
            </a:xfrm>
            <a:custGeom>
              <a:avLst/>
              <a:gdLst/>
              <a:ahLst/>
              <a:cxnLst/>
              <a:rect l="l" t="t" r="r" b="b"/>
              <a:pathLst>
                <a:path w="511045" h="255245">
                  <a:moveTo>
                    <a:pt x="74684" y="0"/>
                  </a:moveTo>
                  <a:lnTo>
                    <a:pt x="436361" y="0"/>
                  </a:lnTo>
                  <a:cubicBezTo>
                    <a:pt x="456169" y="0"/>
                    <a:pt x="475165" y="7868"/>
                    <a:pt x="489171" y="21874"/>
                  </a:cubicBezTo>
                  <a:cubicBezTo>
                    <a:pt x="503177" y="35880"/>
                    <a:pt x="511045" y="54876"/>
                    <a:pt x="511045" y="74684"/>
                  </a:cubicBezTo>
                  <a:lnTo>
                    <a:pt x="511045" y="180561"/>
                  </a:lnTo>
                  <a:cubicBezTo>
                    <a:pt x="511045" y="200368"/>
                    <a:pt x="503177" y="219364"/>
                    <a:pt x="489171" y="233370"/>
                  </a:cubicBezTo>
                  <a:cubicBezTo>
                    <a:pt x="475165" y="247376"/>
                    <a:pt x="456169" y="255245"/>
                    <a:pt x="436361" y="255245"/>
                  </a:cubicBezTo>
                  <a:lnTo>
                    <a:pt x="74684" y="255245"/>
                  </a:lnTo>
                  <a:cubicBezTo>
                    <a:pt x="54876" y="255245"/>
                    <a:pt x="35880" y="247376"/>
                    <a:pt x="21874" y="233370"/>
                  </a:cubicBezTo>
                  <a:cubicBezTo>
                    <a:pt x="7868" y="219364"/>
                    <a:pt x="0" y="200368"/>
                    <a:pt x="0" y="180561"/>
                  </a:cubicBezTo>
                  <a:lnTo>
                    <a:pt x="0" y="74684"/>
                  </a:lnTo>
                  <a:cubicBezTo>
                    <a:pt x="0" y="54876"/>
                    <a:pt x="7868" y="35880"/>
                    <a:pt x="21874" y="21874"/>
                  </a:cubicBezTo>
                  <a:cubicBezTo>
                    <a:pt x="35880" y="7868"/>
                    <a:pt x="54876" y="0"/>
                    <a:pt x="74684" y="0"/>
                  </a:cubicBezTo>
                  <a:close/>
                </a:path>
              </a:pathLst>
            </a:custGeom>
            <a:solidFill>
              <a:srgbClr val="C7C5E0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11045" cy="31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LLM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20005" y="2680902"/>
            <a:ext cx="3477223" cy="2881566"/>
            <a:chOff x="0" y="0"/>
            <a:chExt cx="4636298" cy="3842088"/>
          </a:xfrm>
        </p:grpSpPr>
        <p:sp>
          <p:nvSpPr>
            <p:cNvPr id="11" name="Freeform 11"/>
            <p:cNvSpPr/>
            <p:nvPr/>
          </p:nvSpPr>
          <p:spPr>
            <a:xfrm>
              <a:off x="1050925" y="1689611"/>
              <a:ext cx="1753291" cy="2152478"/>
            </a:xfrm>
            <a:custGeom>
              <a:avLst/>
              <a:gdLst/>
              <a:ahLst/>
              <a:cxnLst/>
              <a:rect l="l" t="t" r="r" b="b"/>
              <a:pathLst>
                <a:path w="1753291" h="2152478">
                  <a:moveTo>
                    <a:pt x="0" y="0"/>
                  </a:moveTo>
                  <a:lnTo>
                    <a:pt x="1753291" y="0"/>
                  </a:lnTo>
                  <a:lnTo>
                    <a:pt x="1753291" y="2152477"/>
                  </a:lnTo>
                  <a:lnTo>
                    <a:pt x="0" y="2152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4123823" y="274222"/>
              <a:ext cx="512475" cy="3567867"/>
            </a:xfrm>
            <a:custGeom>
              <a:avLst/>
              <a:gdLst/>
              <a:ahLst/>
              <a:cxnLst/>
              <a:rect l="l" t="t" r="r" b="b"/>
              <a:pathLst>
                <a:path w="512475" h="3567867">
                  <a:moveTo>
                    <a:pt x="0" y="0"/>
                  </a:moveTo>
                  <a:lnTo>
                    <a:pt x="512475" y="0"/>
                  </a:lnTo>
                  <a:lnTo>
                    <a:pt x="512475" y="3567866"/>
                  </a:lnTo>
                  <a:lnTo>
                    <a:pt x="0" y="356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3855142" cy="1574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07"/>
                </a:lnSpc>
              </a:pPr>
              <a:r>
                <a:rPr lang="en-US" sz="329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Forage description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6355984" y="4233456"/>
            <a:ext cx="156122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 flipV="1">
            <a:off x="6355984" y="7734293"/>
            <a:ext cx="1646519" cy="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15264915" y="5119726"/>
            <a:ext cx="1550257" cy="103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values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4238171" y="5630068"/>
            <a:ext cx="75753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11549439" y="4046454"/>
            <a:ext cx="1480762" cy="10576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12027186" y="5127360"/>
            <a:ext cx="2210986" cy="1135866"/>
            <a:chOff x="0" y="0"/>
            <a:chExt cx="495449" cy="2545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5449" cy="254531"/>
            </a:xfrm>
            <a:custGeom>
              <a:avLst/>
              <a:gdLst/>
              <a:ahLst/>
              <a:cxnLst/>
              <a:rect l="l" t="t" r="r" b="b"/>
              <a:pathLst>
                <a:path w="495449" h="254531">
                  <a:moveTo>
                    <a:pt x="77035" y="0"/>
                  </a:moveTo>
                  <a:lnTo>
                    <a:pt x="418414" y="0"/>
                  </a:lnTo>
                  <a:cubicBezTo>
                    <a:pt x="438845" y="0"/>
                    <a:pt x="458439" y="8116"/>
                    <a:pt x="472886" y="22563"/>
                  </a:cubicBezTo>
                  <a:cubicBezTo>
                    <a:pt x="487333" y="37010"/>
                    <a:pt x="495449" y="56604"/>
                    <a:pt x="495449" y="77035"/>
                  </a:cubicBezTo>
                  <a:lnTo>
                    <a:pt x="495449" y="177496"/>
                  </a:lnTo>
                  <a:cubicBezTo>
                    <a:pt x="495449" y="220041"/>
                    <a:pt x="460960" y="254531"/>
                    <a:pt x="418414" y="254531"/>
                  </a:cubicBezTo>
                  <a:lnTo>
                    <a:pt x="77035" y="254531"/>
                  </a:lnTo>
                  <a:cubicBezTo>
                    <a:pt x="56604" y="254531"/>
                    <a:pt x="37010" y="246415"/>
                    <a:pt x="22563" y="231968"/>
                  </a:cubicBezTo>
                  <a:cubicBezTo>
                    <a:pt x="8116" y="217521"/>
                    <a:pt x="0" y="197927"/>
                    <a:pt x="0" y="177496"/>
                  </a:cubicBezTo>
                  <a:lnTo>
                    <a:pt x="0" y="77035"/>
                  </a:lnTo>
                  <a:cubicBezTo>
                    <a:pt x="0" y="56604"/>
                    <a:pt x="8116" y="37010"/>
                    <a:pt x="22563" y="22563"/>
                  </a:cubicBezTo>
                  <a:cubicBezTo>
                    <a:pt x="37010" y="8116"/>
                    <a:pt x="56604" y="0"/>
                    <a:pt x="77035" y="0"/>
                  </a:cubicBezTo>
                  <a:close/>
                </a:path>
              </a:pathLst>
            </a:custGeom>
            <a:solidFill>
              <a:srgbClr val="F0AF5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495449" cy="311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Neural Net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508157" y="3779645"/>
            <a:ext cx="504976" cy="684080"/>
          </a:xfrm>
          <a:custGeom>
            <a:avLst/>
            <a:gdLst/>
            <a:ahLst/>
            <a:cxnLst/>
            <a:rect l="l" t="t" r="r" b="b"/>
            <a:pathLst>
              <a:path w="504976" h="684080">
                <a:moveTo>
                  <a:pt x="0" y="0"/>
                </a:moveTo>
                <a:lnTo>
                  <a:pt x="504975" y="0"/>
                </a:lnTo>
                <a:lnTo>
                  <a:pt x="504975" y="684080"/>
                </a:lnTo>
                <a:lnTo>
                  <a:pt x="0" y="684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32038" y="5364301"/>
            <a:ext cx="179121" cy="62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8"/>
              </a:lnSpc>
            </a:pPr>
            <a:r>
              <a:rPr lang="en-US" sz="327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93611" y="5288097"/>
            <a:ext cx="143035" cy="4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401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^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1255" y="3080821"/>
            <a:ext cx="3442848" cy="55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3"/>
              </a:lnSpc>
            </a:pPr>
            <a:r>
              <a:rPr lang="en-US" sz="29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Vectorial Embedding</a:t>
            </a:r>
          </a:p>
        </p:txBody>
      </p:sp>
      <p:sp>
        <p:nvSpPr>
          <p:cNvPr id="27" name="Freeform 27"/>
          <p:cNvSpPr/>
          <p:nvPr/>
        </p:nvSpPr>
        <p:spPr>
          <a:xfrm rot="-10800000">
            <a:off x="5768491" y="6468893"/>
            <a:ext cx="384357" cy="2675900"/>
          </a:xfrm>
          <a:custGeom>
            <a:avLst/>
            <a:gdLst/>
            <a:ahLst/>
            <a:cxnLst/>
            <a:rect l="l" t="t" r="r" b="b"/>
            <a:pathLst>
              <a:path w="384357" h="2675900">
                <a:moveTo>
                  <a:pt x="0" y="0"/>
                </a:moveTo>
                <a:lnTo>
                  <a:pt x="384357" y="0"/>
                </a:lnTo>
                <a:lnTo>
                  <a:pt x="384357" y="2675900"/>
                </a:lnTo>
                <a:lnTo>
                  <a:pt x="0" y="2675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554885" y="7059491"/>
            <a:ext cx="2891356" cy="12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Chemical values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003708" y="7134484"/>
            <a:ext cx="2280584" cy="1139052"/>
            <a:chOff x="0" y="0"/>
            <a:chExt cx="511045" cy="25524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1045" cy="255245"/>
            </a:xfrm>
            <a:custGeom>
              <a:avLst/>
              <a:gdLst/>
              <a:ahLst/>
              <a:cxnLst/>
              <a:rect l="l" t="t" r="r" b="b"/>
              <a:pathLst>
                <a:path w="511045" h="255245">
                  <a:moveTo>
                    <a:pt x="74684" y="0"/>
                  </a:moveTo>
                  <a:lnTo>
                    <a:pt x="436361" y="0"/>
                  </a:lnTo>
                  <a:cubicBezTo>
                    <a:pt x="456169" y="0"/>
                    <a:pt x="475165" y="7868"/>
                    <a:pt x="489171" y="21874"/>
                  </a:cubicBezTo>
                  <a:cubicBezTo>
                    <a:pt x="503177" y="35880"/>
                    <a:pt x="511045" y="54876"/>
                    <a:pt x="511045" y="74684"/>
                  </a:cubicBezTo>
                  <a:lnTo>
                    <a:pt x="511045" y="180561"/>
                  </a:lnTo>
                  <a:cubicBezTo>
                    <a:pt x="511045" y="200368"/>
                    <a:pt x="503177" y="219364"/>
                    <a:pt x="489171" y="233370"/>
                  </a:cubicBezTo>
                  <a:cubicBezTo>
                    <a:pt x="475165" y="247376"/>
                    <a:pt x="456169" y="255245"/>
                    <a:pt x="436361" y="255245"/>
                  </a:cubicBezTo>
                  <a:lnTo>
                    <a:pt x="74684" y="255245"/>
                  </a:lnTo>
                  <a:cubicBezTo>
                    <a:pt x="54876" y="255245"/>
                    <a:pt x="35880" y="247376"/>
                    <a:pt x="21874" y="233370"/>
                  </a:cubicBezTo>
                  <a:cubicBezTo>
                    <a:pt x="7868" y="219364"/>
                    <a:pt x="0" y="200368"/>
                    <a:pt x="0" y="180561"/>
                  </a:cubicBezTo>
                  <a:lnTo>
                    <a:pt x="0" y="74684"/>
                  </a:lnTo>
                  <a:cubicBezTo>
                    <a:pt x="0" y="54876"/>
                    <a:pt x="7868" y="35880"/>
                    <a:pt x="21874" y="21874"/>
                  </a:cubicBezTo>
                  <a:cubicBezTo>
                    <a:pt x="35880" y="7868"/>
                    <a:pt x="54876" y="0"/>
                    <a:pt x="74684" y="0"/>
                  </a:cubicBezTo>
                  <a:close/>
                </a:path>
              </a:pathLst>
            </a:custGeom>
            <a:solidFill>
              <a:srgbClr val="9FD69C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11045" cy="31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Preprocess</a:t>
              </a:r>
            </a:p>
          </p:txBody>
        </p:sp>
      </p:grpSp>
      <p:sp>
        <p:nvSpPr>
          <p:cNvPr id="32" name="AutoShape 15">
            <a:extLst>
              <a:ext uri="{FF2B5EF4-FFF2-40B4-BE49-F238E27FC236}">
                <a16:creationId xmlns:a16="http://schemas.microsoft.com/office/drawing/2014/main" id="{1ED45CCC-810F-228A-BEE4-31525FE803D5}"/>
              </a:ext>
            </a:extLst>
          </p:cNvPr>
          <p:cNvSpPr/>
          <p:nvPr/>
        </p:nvSpPr>
        <p:spPr>
          <a:xfrm flipV="1">
            <a:off x="10363199" y="6286500"/>
            <a:ext cx="2590801" cy="13381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73295" y="647481"/>
            <a:ext cx="14214078" cy="1348980"/>
            <a:chOff x="0" y="0"/>
            <a:chExt cx="18952105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8952105" cy="1798641"/>
              <a:chOff x="0" y="0"/>
              <a:chExt cx="2732457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32457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732457" h="259323">
                    <a:moveTo>
                      <a:pt x="23655" y="0"/>
                    </a:moveTo>
                    <a:lnTo>
                      <a:pt x="2708802" y="0"/>
                    </a:lnTo>
                    <a:cubicBezTo>
                      <a:pt x="2721867" y="0"/>
                      <a:pt x="2732457" y="10591"/>
                      <a:pt x="2732457" y="23655"/>
                    </a:cubicBezTo>
                    <a:lnTo>
                      <a:pt x="2732457" y="235668"/>
                    </a:lnTo>
                    <a:cubicBezTo>
                      <a:pt x="2732457" y="248732"/>
                      <a:pt x="2721867" y="259323"/>
                      <a:pt x="2708802" y="259323"/>
                    </a:cubicBezTo>
                    <a:lnTo>
                      <a:pt x="23655" y="259323"/>
                    </a:lnTo>
                    <a:cubicBezTo>
                      <a:pt x="10591" y="259323"/>
                      <a:pt x="0" y="248732"/>
                      <a:pt x="0" y="235668"/>
                    </a:cubicBezTo>
                    <a:lnTo>
                      <a:pt x="0" y="23655"/>
                    </a:lnTo>
                    <a:cubicBezTo>
                      <a:pt x="0" y="10591"/>
                      <a:pt x="10591" y="0"/>
                      <a:pt x="2365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32457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429898" y="324011"/>
              <a:ext cx="16092308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 - Model trained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23558" y="3636193"/>
            <a:ext cx="5157850" cy="1247149"/>
            <a:chOff x="0" y="0"/>
            <a:chExt cx="1358446" cy="328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8446" cy="328467"/>
            </a:xfrm>
            <a:custGeom>
              <a:avLst/>
              <a:gdLst/>
              <a:ahLst/>
              <a:cxnLst/>
              <a:rect l="l" t="t" r="r" b="b"/>
              <a:pathLst>
                <a:path w="1358446" h="328467">
                  <a:moveTo>
                    <a:pt x="48032" y="0"/>
                  </a:moveTo>
                  <a:lnTo>
                    <a:pt x="1310414" y="0"/>
                  </a:lnTo>
                  <a:cubicBezTo>
                    <a:pt x="1323153" y="0"/>
                    <a:pt x="1335370" y="5060"/>
                    <a:pt x="1344378" y="14068"/>
                  </a:cubicBezTo>
                  <a:cubicBezTo>
                    <a:pt x="1353386" y="23076"/>
                    <a:pt x="1358446" y="35293"/>
                    <a:pt x="1358446" y="48032"/>
                  </a:cubicBezTo>
                  <a:lnTo>
                    <a:pt x="1358446" y="280435"/>
                  </a:lnTo>
                  <a:cubicBezTo>
                    <a:pt x="1358446" y="306963"/>
                    <a:pt x="1336941" y="328467"/>
                    <a:pt x="1310414" y="328467"/>
                  </a:cubicBezTo>
                  <a:lnTo>
                    <a:pt x="48032" y="328467"/>
                  </a:lnTo>
                  <a:cubicBezTo>
                    <a:pt x="21505" y="328467"/>
                    <a:pt x="0" y="306963"/>
                    <a:pt x="0" y="280435"/>
                  </a:cubicBezTo>
                  <a:lnTo>
                    <a:pt x="0" y="48032"/>
                  </a:lnTo>
                  <a:cubicBezTo>
                    <a:pt x="0" y="21505"/>
                    <a:pt x="21505" y="0"/>
                    <a:pt x="480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2190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358446" cy="385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Finetuning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13468153" y="2886150"/>
            <a:ext cx="0" cy="7500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15844046" y="2886150"/>
            <a:ext cx="0" cy="7500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>
            <a:off x="9805810" y="2886150"/>
            <a:ext cx="2782693" cy="1997192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</p:sp>
      <p:sp>
        <p:nvSpPr>
          <p:cNvPr id="13" name="TextBox 13"/>
          <p:cNvSpPr txBox="1"/>
          <p:nvPr/>
        </p:nvSpPr>
        <p:spPr>
          <a:xfrm>
            <a:off x="12686230" y="5406351"/>
            <a:ext cx="1423631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 R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449103" y="4698807"/>
            <a:ext cx="0" cy="7500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15824996" y="4698807"/>
            <a:ext cx="0" cy="7500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9546710" y="5344075"/>
            <a:ext cx="2997189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10898" y="6613989"/>
            <a:ext cx="5355209" cy="1247149"/>
            <a:chOff x="0" y="0"/>
            <a:chExt cx="1410426" cy="3284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0426" cy="328467"/>
            </a:xfrm>
            <a:custGeom>
              <a:avLst/>
              <a:gdLst/>
              <a:ahLst/>
              <a:cxnLst/>
              <a:rect l="l" t="t" r="r" b="b"/>
              <a:pathLst>
                <a:path w="1410426" h="328467">
                  <a:moveTo>
                    <a:pt x="46262" y="0"/>
                  </a:moveTo>
                  <a:lnTo>
                    <a:pt x="1364164" y="0"/>
                  </a:lnTo>
                  <a:cubicBezTo>
                    <a:pt x="1389713" y="0"/>
                    <a:pt x="1410426" y="20712"/>
                    <a:pt x="1410426" y="46262"/>
                  </a:cubicBezTo>
                  <a:lnTo>
                    <a:pt x="1410426" y="282206"/>
                  </a:lnTo>
                  <a:cubicBezTo>
                    <a:pt x="1410426" y="307755"/>
                    <a:pt x="1389713" y="328467"/>
                    <a:pt x="1364164" y="328467"/>
                  </a:cubicBezTo>
                  <a:lnTo>
                    <a:pt x="46262" y="328467"/>
                  </a:lnTo>
                  <a:cubicBezTo>
                    <a:pt x="20712" y="328467"/>
                    <a:pt x="0" y="307755"/>
                    <a:pt x="0" y="282206"/>
                  </a:cubicBezTo>
                  <a:lnTo>
                    <a:pt x="0" y="46262"/>
                  </a:lnTo>
                  <a:cubicBezTo>
                    <a:pt x="0" y="20712"/>
                    <a:pt x="20712" y="0"/>
                    <a:pt x="4626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2190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410426" cy="385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Hyperparameter optimization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0979826" y="5863946"/>
            <a:ext cx="0" cy="75004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>
            <a:off x="13398139" y="5926221"/>
            <a:ext cx="0" cy="6877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AutoShape 22"/>
          <p:cNvSpPr/>
          <p:nvPr/>
        </p:nvSpPr>
        <p:spPr>
          <a:xfrm flipV="1">
            <a:off x="14288765" y="6039291"/>
            <a:ext cx="1292129" cy="5746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H="1">
            <a:off x="4130430" y="5656398"/>
            <a:ext cx="4003329" cy="254687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8893460" y="5945271"/>
            <a:ext cx="1466217" cy="6877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>
            <a:off x="12874227" y="7859385"/>
            <a:ext cx="672" cy="2833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TextBox 26"/>
          <p:cNvSpPr txBox="1"/>
          <p:nvPr/>
        </p:nvSpPr>
        <p:spPr>
          <a:xfrm>
            <a:off x="12874227" y="2366280"/>
            <a:ext cx="1074779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10930" y="2366280"/>
            <a:ext cx="3000770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64228" y="5406351"/>
            <a:ext cx="3374123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 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47185" y="5344075"/>
            <a:ext cx="1057194" cy="472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111" y="9313862"/>
            <a:ext cx="914174" cy="388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0751" y="9313862"/>
            <a:ext cx="2493921" cy="388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21615" y="9313862"/>
            <a:ext cx="1143821" cy="388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 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56226" y="9293860"/>
            <a:ext cx="2662238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 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96401" y="9260257"/>
            <a:ext cx="883428" cy="388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70618" y="9260257"/>
            <a:ext cx="2426358" cy="388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63658" y="9196070"/>
            <a:ext cx="1087438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BERT 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41596" y="9196070"/>
            <a:ext cx="2662238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CamemBERTaV2 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1020" y="8359785"/>
            <a:ext cx="102870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“basic”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93819" y="8278926"/>
            <a:ext cx="762159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22634" y="8861477"/>
            <a:ext cx="108632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non FT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58347" y="8896667"/>
            <a:ext cx="41910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40500" y="8861477"/>
            <a:ext cx="108632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non FT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522956" y="8778875"/>
            <a:ext cx="41910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580689" y="938625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67099" y="850008"/>
            <a:ext cx="10553802" cy="78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2"/>
              </a:lnSpc>
              <a:spcBef>
                <a:spcPct val="0"/>
              </a:spcBef>
            </a:pPr>
            <a:r>
              <a:rPr lang="en-US" sz="4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294630" y="647481"/>
            <a:ext cx="14387239" cy="1348980"/>
            <a:chOff x="0" y="0"/>
            <a:chExt cx="19182986" cy="179864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9182986" cy="1798641"/>
              <a:chOff x="0" y="0"/>
              <a:chExt cx="2765745" cy="25932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65745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765745" h="259323">
                    <a:moveTo>
                      <a:pt x="23370" y="0"/>
                    </a:moveTo>
                    <a:lnTo>
                      <a:pt x="2742375" y="0"/>
                    </a:lnTo>
                    <a:cubicBezTo>
                      <a:pt x="2755282" y="0"/>
                      <a:pt x="2765745" y="10463"/>
                      <a:pt x="2765745" y="23370"/>
                    </a:cubicBezTo>
                    <a:lnTo>
                      <a:pt x="2765745" y="235952"/>
                    </a:lnTo>
                    <a:cubicBezTo>
                      <a:pt x="2765745" y="248859"/>
                      <a:pt x="2755282" y="259323"/>
                      <a:pt x="2742375" y="259323"/>
                    </a:cubicBezTo>
                    <a:lnTo>
                      <a:pt x="23370" y="259323"/>
                    </a:lnTo>
                    <a:cubicBezTo>
                      <a:pt x="10463" y="259323"/>
                      <a:pt x="0" y="248859"/>
                      <a:pt x="0" y="235952"/>
                    </a:cubicBezTo>
                    <a:lnTo>
                      <a:pt x="0" y="23370"/>
                    </a:lnTo>
                    <a:cubicBezTo>
                      <a:pt x="0" y="10463"/>
                      <a:pt x="10463" y="0"/>
                      <a:pt x="2337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65745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447318" y="324011"/>
              <a:ext cx="16288350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- Energy values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565826" y="4063775"/>
            <a:ext cx="7353688" cy="4932095"/>
          </a:xfrm>
          <a:custGeom>
            <a:avLst/>
            <a:gdLst/>
            <a:ahLst/>
            <a:cxnLst/>
            <a:rect l="l" t="t" r="r" b="b"/>
            <a:pathLst>
              <a:path w="7353688" h="4932095">
                <a:moveTo>
                  <a:pt x="0" y="0"/>
                </a:moveTo>
                <a:lnTo>
                  <a:pt x="7353688" y="0"/>
                </a:lnTo>
                <a:lnTo>
                  <a:pt x="7353688" y="4932095"/>
                </a:lnTo>
                <a:lnTo>
                  <a:pt x="0" y="493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54" t="-15091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043266" y="4357916"/>
            <a:ext cx="513715" cy="3786258"/>
            <a:chOff x="0" y="0"/>
            <a:chExt cx="684953" cy="5048344"/>
          </a:xfrm>
        </p:grpSpPr>
        <p:sp>
          <p:nvSpPr>
            <p:cNvPr id="10" name="AutoShape 10"/>
            <p:cNvSpPr/>
            <p:nvPr/>
          </p:nvSpPr>
          <p:spPr>
            <a:xfrm>
              <a:off x="317077" y="0"/>
              <a:ext cx="0" cy="50483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TextBox 11"/>
            <p:cNvSpPr txBox="1"/>
            <p:nvPr/>
          </p:nvSpPr>
          <p:spPr>
            <a:xfrm rot="-5400000">
              <a:off x="-446722" y="2246392"/>
              <a:ext cx="1511723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RMSE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65826" y="8411777"/>
            <a:ext cx="7022974" cy="584092"/>
            <a:chOff x="0" y="0"/>
            <a:chExt cx="1849672" cy="1538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49672" cy="153835"/>
            </a:xfrm>
            <a:custGeom>
              <a:avLst/>
              <a:gdLst/>
              <a:ahLst/>
              <a:cxnLst/>
              <a:rect l="l" t="t" r="r" b="b"/>
              <a:pathLst>
                <a:path w="1849672" h="153835">
                  <a:moveTo>
                    <a:pt x="0" y="0"/>
                  </a:moveTo>
                  <a:lnTo>
                    <a:pt x="1849672" y="0"/>
                  </a:lnTo>
                  <a:lnTo>
                    <a:pt x="1849672" y="153835"/>
                  </a:lnTo>
                  <a:lnTo>
                    <a:pt x="0" y="1538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49672" cy="20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817182" y="8527611"/>
            <a:ext cx="2448278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---------- BERT -------------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6481" y="8549201"/>
            <a:ext cx="2359118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----CamenBERTa ----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0876" y="8527611"/>
            <a:ext cx="1363307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Chemical only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792253" y="3015204"/>
            <a:ext cx="2254522" cy="1820057"/>
          </a:xfrm>
          <a:custGeom>
            <a:avLst/>
            <a:gdLst/>
            <a:ahLst/>
            <a:cxnLst/>
            <a:rect l="l" t="t" r="r" b="b"/>
            <a:pathLst>
              <a:path w="2254522" h="1820057">
                <a:moveTo>
                  <a:pt x="0" y="0"/>
                </a:moveTo>
                <a:lnTo>
                  <a:pt x="2254522" y="0"/>
                </a:lnTo>
                <a:lnTo>
                  <a:pt x="2254522" y="1820057"/>
                </a:lnTo>
                <a:lnTo>
                  <a:pt x="0" y="1820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0322" y="4034384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0322" y="4822891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10322" y="5611399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10322" y="6399907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10322" y="7188415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10322" y="7976923"/>
            <a:ext cx="8555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67099" y="850008"/>
            <a:ext cx="10553802" cy="78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2"/>
              </a:lnSpc>
              <a:spcBef>
                <a:spcPct val="0"/>
              </a:spcBef>
            </a:pPr>
            <a:r>
              <a:rPr lang="en-US" sz="40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294630" y="647481"/>
            <a:ext cx="14387239" cy="1348980"/>
            <a:chOff x="0" y="0"/>
            <a:chExt cx="19182986" cy="179864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9182986" cy="1798641"/>
              <a:chOff x="0" y="0"/>
              <a:chExt cx="2765745" cy="25932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65745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765745" h="259323">
                    <a:moveTo>
                      <a:pt x="23370" y="0"/>
                    </a:moveTo>
                    <a:lnTo>
                      <a:pt x="2742375" y="0"/>
                    </a:lnTo>
                    <a:cubicBezTo>
                      <a:pt x="2755282" y="0"/>
                      <a:pt x="2765745" y="10463"/>
                      <a:pt x="2765745" y="23370"/>
                    </a:cubicBezTo>
                    <a:lnTo>
                      <a:pt x="2765745" y="235952"/>
                    </a:lnTo>
                    <a:cubicBezTo>
                      <a:pt x="2765745" y="248859"/>
                      <a:pt x="2755282" y="259323"/>
                      <a:pt x="2742375" y="259323"/>
                    </a:cubicBezTo>
                    <a:lnTo>
                      <a:pt x="23370" y="259323"/>
                    </a:lnTo>
                    <a:cubicBezTo>
                      <a:pt x="10463" y="259323"/>
                      <a:pt x="0" y="248859"/>
                      <a:pt x="0" y="235952"/>
                    </a:cubicBezTo>
                    <a:lnTo>
                      <a:pt x="0" y="23370"/>
                    </a:lnTo>
                    <a:cubicBezTo>
                      <a:pt x="0" y="10463"/>
                      <a:pt x="10463" y="0"/>
                      <a:pt x="2337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65745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447318" y="324011"/>
              <a:ext cx="16288350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- Protein values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833473" y="3954164"/>
            <a:ext cx="7421687" cy="4949935"/>
          </a:xfrm>
          <a:custGeom>
            <a:avLst/>
            <a:gdLst/>
            <a:ahLst/>
            <a:cxnLst/>
            <a:rect l="l" t="t" r="r" b="b"/>
            <a:pathLst>
              <a:path w="7421687" h="4949935">
                <a:moveTo>
                  <a:pt x="0" y="0"/>
                </a:moveTo>
                <a:lnTo>
                  <a:pt x="7421687" y="0"/>
                </a:lnTo>
                <a:lnTo>
                  <a:pt x="7421687" y="4949935"/>
                </a:lnTo>
                <a:lnTo>
                  <a:pt x="0" y="494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52" t="-14676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895958" y="8320007"/>
            <a:ext cx="7022974" cy="584092"/>
            <a:chOff x="0" y="0"/>
            <a:chExt cx="1849672" cy="1538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9672" cy="153835"/>
            </a:xfrm>
            <a:custGeom>
              <a:avLst/>
              <a:gdLst/>
              <a:ahLst/>
              <a:cxnLst/>
              <a:rect l="l" t="t" r="r" b="b"/>
              <a:pathLst>
                <a:path w="1849672" h="153835">
                  <a:moveTo>
                    <a:pt x="0" y="0"/>
                  </a:moveTo>
                  <a:lnTo>
                    <a:pt x="1849672" y="0"/>
                  </a:lnTo>
                  <a:lnTo>
                    <a:pt x="1849672" y="153835"/>
                  </a:lnTo>
                  <a:lnTo>
                    <a:pt x="0" y="1538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49672" cy="201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070817" y="8457430"/>
            <a:ext cx="2582647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----------- BERT ------------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22151" y="8457430"/>
            <a:ext cx="2695501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--------CamenBERTa--------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6339" y="8467140"/>
            <a:ext cx="1208064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Chemical only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19857" y="4533749"/>
            <a:ext cx="513715" cy="3786258"/>
            <a:chOff x="0" y="0"/>
            <a:chExt cx="684953" cy="5048344"/>
          </a:xfrm>
        </p:grpSpPr>
        <p:sp>
          <p:nvSpPr>
            <p:cNvPr id="16" name="AutoShape 16"/>
            <p:cNvSpPr/>
            <p:nvPr/>
          </p:nvSpPr>
          <p:spPr>
            <a:xfrm>
              <a:off x="317077" y="0"/>
              <a:ext cx="0" cy="50483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TextBox 17"/>
            <p:cNvSpPr txBox="1"/>
            <p:nvPr/>
          </p:nvSpPr>
          <p:spPr>
            <a:xfrm rot="-5400000">
              <a:off x="-446722" y="2246392"/>
              <a:ext cx="1511723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RMSE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2493258" y="3551141"/>
            <a:ext cx="1523804" cy="1592359"/>
          </a:xfrm>
          <a:custGeom>
            <a:avLst/>
            <a:gdLst/>
            <a:ahLst/>
            <a:cxnLst/>
            <a:rect l="l" t="t" r="r" b="b"/>
            <a:pathLst>
              <a:path w="1523804" h="1592359">
                <a:moveTo>
                  <a:pt x="0" y="0"/>
                </a:moveTo>
                <a:lnTo>
                  <a:pt x="1523804" y="0"/>
                </a:lnTo>
                <a:lnTo>
                  <a:pt x="1523804" y="1592359"/>
                </a:lnTo>
                <a:lnTo>
                  <a:pt x="0" y="159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0" r="-2747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29576" y="3953359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3.5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29576" y="4525754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3.0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29576" y="5670544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2.0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29576" y="6242939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1.5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29576" y="7387729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29576" y="7958594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9576" y="5098149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2.5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9576" y="6815334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084"/>
            <a:ext cx="18288000" cy="1089532"/>
            <a:chOff x="0" y="0"/>
            <a:chExt cx="24384000" cy="145271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1452710"/>
              <a:chOff x="0" y="0"/>
              <a:chExt cx="4869092" cy="29008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69092" cy="290083"/>
              </a:xfrm>
              <a:custGeom>
                <a:avLst/>
                <a:gdLst/>
                <a:ahLst/>
                <a:cxnLst/>
                <a:rect l="l" t="t" r="r" b="b"/>
                <a:pathLst>
                  <a:path w="4869092" h="290083">
                    <a:moveTo>
                      <a:pt x="13275" y="0"/>
                    </a:moveTo>
                    <a:lnTo>
                      <a:pt x="4855817" y="0"/>
                    </a:lnTo>
                    <a:cubicBezTo>
                      <a:pt x="4859338" y="0"/>
                      <a:pt x="4862714" y="1399"/>
                      <a:pt x="4865204" y="3888"/>
                    </a:cubicBezTo>
                    <a:cubicBezTo>
                      <a:pt x="4867693" y="6378"/>
                      <a:pt x="4869092" y="9754"/>
                      <a:pt x="4869092" y="13275"/>
                    </a:cubicBezTo>
                    <a:lnTo>
                      <a:pt x="4869092" y="276808"/>
                    </a:lnTo>
                    <a:cubicBezTo>
                      <a:pt x="4869092" y="280329"/>
                      <a:pt x="4867693" y="283705"/>
                      <a:pt x="4865204" y="286195"/>
                    </a:cubicBezTo>
                    <a:cubicBezTo>
                      <a:pt x="4862714" y="288684"/>
                      <a:pt x="4859338" y="290083"/>
                      <a:pt x="4855817" y="290083"/>
                    </a:cubicBezTo>
                    <a:lnTo>
                      <a:pt x="13275" y="290083"/>
                    </a:lnTo>
                    <a:cubicBezTo>
                      <a:pt x="9754" y="290083"/>
                      <a:pt x="6378" y="288684"/>
                      <a:pt x="3888" y="286195"/>
                    </a:cubicBezTo>
                    <a:cubicBezTo>
                      <a:pt x="1399" y="283705"/>
                      <a:pt x="0" y="280329"/>
                      <a:pt x="0" y="276808"/>
                    </a:cubicBezTo>
                    <a:lnTo>
                      <a:pt x="0" y="13275"/>
                    </a:lnTo>
                    <a:cubicBezTo>
                      <a:pt x="0" y="9754"/>
                      <a:pt x="1399" y="6378"/>
                      <a:pt x="3888" y="3888"/>
                    </a:cubicBezTo>
                    <a:cubicBezTo>
                      <a:pt x="6378" y="1399"/>
                      <a:pt x="9754" y="0"/>
                      <a:pt x="1327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69092" cy="32818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39724" y="207983"/>
              <a:ext cx="20704552" cy="893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80"/>
                </a:lnSpc>
                <a:spcBef>
                  <a:spcPct val="0"/>
                </a:spcBef>
              </a:pPr>
              <a:r>
                <a:rPr lang="en-US" sz="3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- Energy values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532795" y="2795462"/>
            <a:ext cx="8664311" cy="5521680"/>
          </a:xfrm>
          <a:custGeom>
            <a:avLst/>
            <a:gdLst/>
            <a:ahLst/>
            <a:cxnLst/>
            <a:rect l="l" t="t" r="r" b="b"/>
            <a:pathLst>
              <a:path w="8664311" h="5521680">
                <a:moveTo>
                  <a:pt x="0" y="0"/>
                </a:moveTo>
                <a:lnTo>
                  <a:pt x="8664311" y="0"/>
                </a:lnTo>
                <a:lnTo>
                  <a:pt x="8664311" y="5521680"/>
                </a:lnTo>
                <a:lnTo>
                  <a:pt x="0" y="552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15" b="-4696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044260" y="4186043"/>
            <a:ext cx="513715" cy="3786258"/>
            <a:chOff x="0" y="0"/>
            <a:chExt cx="684953" cy="5048344"/>
          </a:xfrm>
        </p:grpSpPr>
        <p:sp>
          <p:nvSpPr>
            <p:cNvPr id="11" name="AutoShape 11"/>
            <p:cNvSpPr/>
            <p:nvPr/>
          </p:nvSpPr>
          <p:spPr>
            <a:xfrm>
              <a:off x="317077" y="0"/>
              <a:ext cx="0" cy="50483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</p:sp>
        <p:sp>
          <p:nvSpPr>
            <p:cNvPr id="12" name="TextBox 12"/>
            <p:cNvSpPr txBox="1"/>
            <p:nvPr/>
          </p:nvSpPr>
          <p:spPr>
            <a:xfrm rot="-5400000">
              <a:off x="-446722" y="2246392"/>
              <a:ext cx="1511723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R²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776843" y="3100851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1.0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76843" y="4061806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76843" y="5983716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76843" y="6944671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76843" y="5022761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76843" y="7905626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638142" y="8317142"/>
            <a:ext cx="6262089" cy="527573"/>
            <a:chOff x="0" y="0"/>
            <a:chExt cx="8349452" cy="703431"/>
          </a:xfrm>
        </p:grpSpPr>
        <p:sp>
          <p:nvSpPr>
            <p:cNvPr id="20" name="AutoShape 20"/>
            <p:cNvSpPr/>
            <p:nvPr/>
          </p:nvSpPr>
          <p:spPr>
            <a:xfrm flipH="1">
              <a:off x="0" y="306738"/>
              <a:ext cx="834945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TextBox 21"/>
            <p:cNvSpPr txBox="1"/>
            <p:nvPr/>
          </p:nvSpPr>
          <p:spPr>
            <a:xfrm rot="19192">
              <a:off x="2519098" y="-57435"/>
              <a:ext cx="3311628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LLM-based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 rot="19192">
            <a:off x="11901557" y="8265088"/>
            <a:ext cx="234117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non-neural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381493" y="2257497"/>
            <a:ext cx="2254522" cy="1820057"/>
          </a:xfrm>
          <a:custGeom>
            <a:avLst/>
            <a:gdLst/>
            <a:ahLst/>
            <a:cxnLst/>
            <a:rect l="l" t="t" r="r" b="b"/>
            <a:pathLst>
              <a:path w="2254522" h="1820057">
                <a:moveTo>
                  <a:pt x="0" y="0"/>
                </a:moveTo>
                <a:lnTo>
                  <a:pt x="2254522" y="0"/>
                </a:lnTo>
                <a:lnTo>
                  <a:pt x="2254522" y="1820057"/>
                </a:lnTo>
                <a:lnTo>
                  <a:pt x="0" y="1820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084"/>
            <a:ext cx="18288000" cy="1089532"/>
            <a:chOff x="0" y="0"/>
            <a:chExt cx="24384000" cy="145271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1452710"/>
              <a:chOff x="0" y="0"/>
              <a:chExt cx="4869092" cy="29008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69092" cy="290083"/>
              </a:xfrm>
              <a:custGeom>
                <a:avLst/>
                <a:gdLst/>
                <a:ahLst/>
                <a:cxnLst/>
                <a:rect l="l" t="t" r="r" b="b"/>
                <a:pathLst>
                  <a:path w="4869092" h="290083">
                    <a:moveTo>
                      <a:pt x="13275" y="0"/>
                    </a:moveTo>
                    <a:lnTo>
                      <a:pt x="4855817" y="0"/>
                    </a:lnTo>
                    <a:cubicBezTo>
                      <a:pt x="4859338" y="0"/>
                      <a:pt x="4862714" y="1399"/>
                      <a:pt x="4865204" y="3888"/>
                    </a:cubicBezTo>
                    <a:cubicBezTo>
                      <a:pt x="4867693" y="6378"/>
                      <a:pt x="4869092" y="9754"/>
                      <a:pt x="4869092" y="13275"/>
                    </a:cubicBezTo>
                    <a:lnTo>
                      <a:pt x="4869092" y="276808"/>
                    </a:lnTo>
                    <a:cubicBezTo>
                      <a:pt x="4869092" y="280329"/>
                      <a:pt x="4867693" y="283705"/>
                      <a:pt x="4865204" y="286195"/>
                    </a:cubicBezTo>
                    <a:cubicBezTo>
                      <a:pt x="4862714" y="288684"/>
                      <a:pt x="4859338" y="290083"/>
                      <a:pt x="4855817" y="290083"/>
                    </a:cubicBezTo>
                    <a:lnTo>
                      <a:pt x="13275" y="290083"/>
                    </a:lnTo>
                    <a:cubicBezTo>
                      <a:pt x="9754" y="290083"/>
                      <a:pt x="6378" y="288684"/>
                      <a:pt x="3888" y="286195"/>
                    </a:cubicBezTo>
                    <a:cubicBezTo>
                      <a:pt x="1399" y="283705"/>
                      <a:pt x="0" y="280329"/>
                      <a:pt x="0" y="276808"/>
                    </a:cubicBezTo>
                    <a:lnTo>
                      <a:pt x="0" y="13275"/>
                    </a:lnTo>
                    <a:cubicBezTo>
                      <a:pt x="0" y="9754"/>
                      <a:pt x="1399" y="6378"/>
                      <a:pt x="3888" y="3888"/>
                    </a:cubicBezTo>
                    <a:cubicBezTo>
                      <a:pt x="6378" y="1399"/>
                      <a:pt x="9754" y="0"/>
                      <a:pt x="1327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69092" cy="32818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39724" y="207983"/>
              <a:ext cx="20704552" cy="893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80"/>
                </a:lnSpc>
                <a:spcBef>
                  <a:spcPct val="0"/>
                </a:spcBef>
              </a:pPr>
              <a:r>
                <a:rPr lang="en-US" sz="3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- Protein values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  <p:sp>
        <p:nvSpPr>
          <p:cNvPr id="8" name="Freeform 8"/>
          <p:cNvSpPr/>
          <p:nvPr/>
        </p:nvSpPr>
        <p:spPr>
          <a:xfrm>
            <a:off x="5604565" y="2415152"/>
            <a:ext cx="9213866" cy="5327108"/>
          </a:xfrm>
          <a:custGeom>
            <a:avLst/>
            <a:gdLst/>
            <a:ahLst/>
            <a:cxnLst/>
            <a:rect l="l" t="t" r="r" b="b"/>
            <a:pathLst>
              <a:path w="9213866" h="5327108">
                <a:moveTo>
                  <a:pt x="0" y="0"/>
                </a:moveTo>
                <a:lnTo>
                  <a:pt x="9213866" y="0"/>
                </a:lnTo>
                <a:lnTo>
                  <a:pt x="9213866" y="5327109"/>
                </a:lnTo>
                <a:lnTo>
                  <a:pt x="0" y="5327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36" t="-12461" b="-4856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044260" y="3433670"/>
            <a:ext cx="513715" cy="3786258"/>
            <a:chOff x="0" y="0"/>
            <a:chExt cx="684953" cy="5048344"/>
          </a:xfrm>
        </p:grpSpPr>
        <p:sp>
          <p:nvSpPr>
            <p:cNvPr id="10" name="AutoShape 10"/>
            <p:cNvSpPr/>
            <p:nvPr/>
          </p:nvSpPr>
          <p:spPr>
            <a:xfrm>
              <a:off x="317077" y="0"/>
              <a:ext cx="0" cy="50483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</p:sp>
        <p:sp>
          <p:nvSpPr>
            <p:cNvPr id="11" name="TextBox 11"/>
            <p:cNvSpPr txBox="1"/>
            <p:nvPr/>
          </p:nvSpPr>
          <p:spPr>
            <a:xfrm rot="-5400000">
              <a:off x="-446722" y="2246392"/>
              <a:ext cx="1511723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R²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76843" y="2348477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76843" y="3309433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76843" y="5231343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76843" y="6192298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76843" y="4270388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76843" y="7153253"/>
            <a:ext cx="6086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0.0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901148" y="7733643"/>
            <a:ext cx="6262089" cy="527573"/>
            <a:chOff x="0" y="0"/>
            <a:chExt cx="8349452" cy="703431"/>
          </a:xfrm>
        </p:grpSpPr>
        <p:sp>
          <p:nvSpPr>
            <p:cNvPr id="19" name="AutoShape 19"/>
            <p:cNvSpPr/>
            <p:nvPr/>
          </p:nvSpPr>
          <p:spPr>
            <a:xfrm flipH="1">
              <a:off x="0" y="306738"/>
              <a:ext cx="834945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TextBox 20"/>
            <p:cNvSpPr txBox="1"/>
            <p:nvPr/>
          </p:nvSpPr>
          <p:spPr>
            <a:xfrm rot="19192">
              <a:off x="2519098" y="-57435"/>
              <a:ext cx="3311628" cy="751628"/>
            </a:xfrm>
            <a:prstGeom prst="rect">
              <a:avLst/>
            </a:prstGeom>
            <a:solidFill>
              <a:schemeClr val="bg1"/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 dirty="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LLM-based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 rot="19192">
            <a:off x="12680221" y="7683024"/>
            <a:ext cx="234117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non-neural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54175" y="407567"/>
            <a:ext cx="14387239" cy="1348980"/>
            <a:chOff x="0" y="0"/>
            <a:chExt cx="19182986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9182986" cy="1798641"/>
              <a:chOff x="0" y="0"/>
              <a:chExt cx="2765745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65745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765745" h="259323">
                    <a:moveTo>
                      <a:pt x="23370" y="0"/>
                    </a:moveTo>
                    <a:lnTo>
                      <a:pt x="2742375" y="0"/>
                    </a:lnTo>
                    <a:cubicBezTo>
                      <a:pt x="2755282" y="0"/>
                      <a:pt x="2765745" y="10463"/>
                      <a:pt x="2765745" y="23370"/>
                    </a:cubicBezTo>
                    <a:lnTo>
                      <a:pt x="2765745" y="235952"/>
                    </a:lnTo>
                    <a:cubicBezTo>
                      <a:pt x="2765745" y="248859"/>
                      <a:pt x="2755282" y="259323"/>
                      <a:pt x="2742375" y="259323"/>
                    </a:cubicBezTo>
                    <a:lnTo>
                      <a:pt x="23370" y="259323"/>
                    </a:lnTo>
                    <a:cubicBezTo>
                      <a:pt x="10463" y="259323"/>
                      <a:pt x="0" y="248859"/>
                      <a:pt x="0" y="235952"/>
                    </a:cubicBezTo>
                    <a:lnTo>
                      <a:pt x="0" y="23370"/>
                    </a:lnTo>
                    <a:cubicBezTo>
                      <a:pt x="0" y="10463"/>
                      <a:pt x="10463" y="0"/>
                      <a:pt x="2337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65745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447318" y="324011"/>
              <a:ext cx="16288350" cy="988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Takeaways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95522"/>
            <a:ext cx="16375856" cy="51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986" lvl="1" indent="-392493" algn="l">
              <a:lnSpc>
                <a:spcPts val="5090"/>
              </a:lnSpc>
              <a:buFont typeface="Arial"/>
              <a:buChar char="•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Promising results for predicting all targets</a:t>
            </a:r>
          </a:p>
          <a:p>
            <a:pPr marL="784986" lvl="1" indent="-392493" algn="l">
              <a:lnSpc>
                <a:spcPts val="5090"/>
              </a:lnSpc>
              <a:buFont typeface="Arial"/>
              <a:buChar char="•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model : non-neural approach (</a:t>
            </a:r>
            <a:r>
              <a:rPr lang="en-US" sz="363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84986" lvl="1" indent="-392493" algn="l">
              <a:lnSpc>
                <a:spcPts val="5090"/>
              </a:lnSpc>
              <a:buFont typeface="Arial"/>
              <a:buChar char="•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models with contrasting results:</a:t>
            </a:r>
          </a:p>
          <a:p>
            <a:pPr marL="1569973" lvl="2" indent="-523324" algn="l">
              <a:lnSpc>
                <a:spcPts val="5090"/>
              </a:lnSpc>
              <a:buFont typeface="Arial"/>
              <a:buChar char="⚬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comparable or slightly better results than non-neural</a:t>
            </a:r>
          </a:p>
          <a:p>
            <a:pPr marL="1569973" lvl="2" indent="-523324" algn="l">
              <a:lnSpc>
                <a:spcPts val="5090"/>
              </a:lnSpc>
              <a:buFont typeface="Arial"/>
              <a:buChar char="⚬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generalization capacity</a:t>
            </a:r>
          </a:p>
          <a:p>
            <a:pPr marL="1569973" lvl="2" indent="-523324" algn="l">
              <a:lnSpc>
                <a:spcPts val="5090"/>
              </a:lnSpc>
              <a:buFont typeface="Arial"/>
              <a:buChar char="⚬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inference and training costs</a:t>
            </a:r>
          </a:p>
          <a:p>
            <a:pPr marL="784986" lvl="1" indent="-392493" algn="l">
              <a:lnSpc>
                <a:spcPts val="5090"/>
              </a:lnSpc>
              <a:buFont typeface="Arial"/>
              <a:buChar char="•"/>
            </a:pPr>
            <a:r>
              <a:rPr lang="en-US" sz="363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Prospects: field experimentation, use with routine systems, generalization to other fields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2957" y="3775606"/>
            <a:ext cx="16862086" cy="1830075"/>
            <a:chOff x="0" y="0"/>
            <a:chExt cx="22482782" cy="24401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2482782" cy="2440100"/>
              <a:chOff x="0" y="0"/>
              <a:chExt cx="2389366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696281" y="449688"/>
              <a:ext cx="19090221" cy="121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763"/>
                </a:lnSpc>
                <a:spcBef>
                  <a:spcPct val="0"/>
                </a:spcBef>
              </a:pPr>
              <a:r>
                <a:rPr lang="en-US" sz="554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MATERIAL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9764" y="2542042"/>
            <a:ext cx="8618260" cy="6131791"/>
          </a:xfrm>
          <a:custGeom>
            <a:avLst/>
            <a:gdLst/>
            <a:ahLst/>
            <a:cxnLst/>
            <a:rect l="l" t="t" r="r" b="b"/>
            <a:pathLst>
              <a:path w="8618260" h="6131791">
                <a:moveTo>
                  <a:pt x="0" y="0"/>
                </a:moveTo>
                <a:lnTo>
                  <a:pt x="8618260" y="0"/>
                </a:lnTo>
                <a:lnTo>
                  <a:pt x="8618260" y="6131791"/>
                </a:lnTo>
                <a:lnTo>
                  <a:pt x="0" y="613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98024" y="2528188"/>
            <a:ext cx="8510212" cy="6145645"/>
          </a:xfrm>
          <a:custGeom>
            <a:avLst/>
            <a:gdLst/>
            <a:ahLst/>
            <a:cxnLst/>
            <a:rect l="l" t="t" r="r" b="b"/>
            <a:pathLst>
              <a:path w="8510212" h="6145645">
                <a:moveTo>
                  <a:pt x="0" y="0"/>
                </a:moveTo>
                <a:lnTo>
                  <a:pt x="8510212" y="0"/>
                </a:lnTo>
                <a:lnTo>
                  <a:pt x="8510212" y="6145645"/>
                </a:lnTo>
                <a:lnTo>
                  <a:pt x="0" y="6145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10675"/>
            <a:ext cx="266700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929330" y="647481"/>
            <a:ext cx="12429339" cy="1348980"/>
            <a:chOff x="0" y="0"/>
            <a:chExt cx="16572452" cy="179864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6572452" cy="1798641"/>
              <a:chOff x="0" y="0"/>
              <a:chExt cx="2389366" cy="2593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250359" y="324011"/>
              <a:ext cx="14071736" cy="92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Best model – non neural UFL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9330" y="647481"/>
            <a:ext cx="12429339" cy="1348980"/>
            <a:chOff x="0" y="0"/>
            <a:chExt cx="16572452" cy="17986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572452" cy="1798641"/>
              <a:chOff x="0" y="0"/>
              <a:chExt cx="2389366" cy="25932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89366" cy="259323"/>
              </a:xfrm>
              <a:custGeom>
                <a:avLst/>
                <a:gdLst/>
                <a:ahLst/>
                <a:cxnLst/>
                <a:rect l="l" t="t" r="r" b="b"/>
                <a:pathLst>
                  <a:path w="2389366" h="259323">
                    <a:moveTo>
                      <a:pt x="27051" y="0"/>
                    </a:moveTo>
                    <a:lnTo>
                      <a:pt x="2362315" y="0"/>
                    </a:lnTo>
                    <a:cubicBezTo>
                      <a:pt x="2377255" y="0"/>
                      <a:pt x="2389366" y="12111"/>
                      <a:pt x="2389366" y="27051"/>
                    </a:cubicBezTo>
                    <a:lnTo>
                      <a:pt x="2389366" y="232271"/>
                    </a:lnTo>
                    <a:cubicBezTo>
                      <a:pt x="2389366" y="247211"/>
                      <a:pt x="2377255" y="259323"/>
                      <a:pt x="2362315" y="259323"/>
                    </a:cubicBezTo>
                    <a:lnTo>
                      <a:pt x="27051" y="259323"/>
                    </a:lnTo>
                    <a:cubicBezTo>
                      <a:pt x="12111" y="259323"/>
                      <a:pt x="0" y="247211"/>
                      <a:pt x="0" y="232271"/>
                    </a:cubicBezTo>
                    <a:lnTo>
                      <a:pt x="0" y="27051"/>
                    </a:lnTo>
                    <a:cubicBezTo>
                      <a:pt x="0" y="12111"/>
                      <a:pt x="12111" y="0"/>
                      <a:pt x="27051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89366" cy="297423"/>
              </a:xfrm>
              <a:prstGeom prst="rect">
                <a:avLst/>
              </a:prstGeom>
            </p:spPr>
            <p:txBody>
              <a:bodyPr lIns="81730" tIns="81730" rIns="81730" bIns="8173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50359" y="324011"/>
              <a:ext cx="14071736" cy="915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22"/>
                </a:lnSpc>
                <a:spcBef>
                  <a:spcPct val="0"/>
                </a:spcBef>
              </a:pPr>
              <a:r>
                <a:rPr lang="en-US" sz="408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Non neural</a:t>
              </a:r>
              <a:endParaRPr lang="en-US" sz="408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3355707" y="3804545"/>
            <a:ext cx="11576587" cy="6214685"/>
          </a:xfrm>
          <a:custGeom>
            <a:avLst/>
            <a:gdLst/>
            <a:ahLst/>
            <a:cxnLst/>
            <a:rect l="l" t="t" r="r" b="b"/>
            <a:pathLst>
              <a:path w="11576587" h="6214685">
                <a:moveTo>
                  <a:pt x="0" y="0"/>
                </a:moveTo>
                <a:lnTo>
                  <a:pt x="11576586" y="0"/>
                </a:lnTo>
                <a:lnTo>
                  <a:pt x="11576586" y="6214686"/>
                </a:lnTo>
                <a:lnTo>
                  <a:pt x="0" y="6214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777" r="-93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259300" y="9210675"/>
            <a:ext cx="266700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32671" y="3034198"/>
            <a:ext cx="6022657" cy="5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UFL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8188" y="2129432"/>
            <a:ext cx="10251623" cy="5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Pre-process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661</Words>
  <Application>Microsoft Office PowerPoint</Application>
  <PresentationFormat>Personnalisé</PresentationFormat>
  <Paragraphs>248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CMU Concrete</vt:lpstr>
      <vt:lpstr>Arial</vt:lpstr>
      <vt:lpstr>Open Sans 1 Bold</vt:lpstr>
      <vt:lpstr>Arial Bold</vt:lpstr>
      <vt:lpstr>Open Sans 1</vt:lpstr>
      <vt:lpstr>Arial Italics</vt:lpstr>
      <vt:lpstr>Calibri</vt:lpstr>
      <vt:lpstr>Open Sans 2 Bold</vt:lpstr>
      <vt:lpstr>Lora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AI4S - Can AI accurately predict forage energy and protein values using chemical and textual data ?</dc:title>
  <cp:lastModifiedBy>Lauront Aristide</cp:lastModifiedBy>
  <cp:revision>4</cp:revision>
  <dcterms:created xsi:type="dcterms:W3CDTF">2006-08-16T00:00:00Z</dcterms:created>
  <dcterms:modified xsi:type="dcterms:W3CDTF">2025-06-04T15:41:52Z</dcterms:modified>
  <dc:identifier>DAGnRPBE7uY</dc:identifier>
</cp:coreProperties>
</file>